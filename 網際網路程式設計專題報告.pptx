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5" r:id="rId32"/>
    <p:sldId id="288" r:id="rId33"/>
    <p:sldId id="286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40487A3-CB8D-4BFB-89D8-BB6386755870}">
          <p14:sldIdLst>
            <p14:sldId id="257"/>
            <p14:sldId id="258"/>
            <p14:sldId id="297"/>
            <p14:sldId id="259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7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  <p14:sldId id="287"/>
            <p14:sldId id="285"/>
            <p14:sldId id="288"/>
            <p14:sldId id="286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11EC4-8201-504B-5F32-399B9876E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935568-711F-C721-1703-3D771AF26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B05C4A-420A-7D45-F481-156A16B8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DFB8BA-88E2-E95B-8C7D-4BFB9CE7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B171C8-4D2A-F65B-628B-9E4A2596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26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F24CA-534F-E63B-554B-8BF03FD6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743544-A6C0-1E90-6777-436A26545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4E1976-178B-1B86-D293-39E51EFF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14D04A-93FE-96E4-84E6-9F58B31E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FD8A87-EB2F-7AED-EB1D-2748ED7D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61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3090C6-6B71-71D0-F2FC-54A6DCDD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6F56E81-CE5C-BD41-03ED-3176250C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A35DA0-31C6-040B-99CF-130F2FA6A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F17D84-48FA-8A84-A7F2-B709085C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5D7830-F4CE-98B0-4FE2-16DB37DB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61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36372-4529-25A3-1FA5-5AAE6CD9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617831-C1AD-3F96-4FF6-58A99F332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DFC3A5-3DE7-AC91-3F44-568D7EA53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FD59EE-C49E-69F3-D749-9B4BE3284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12860D-9D7F-280B-9D8B-E0A2AD3C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1E9597-2979-9B05-C77C-32449B94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465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EE71F-4F59-5BEA-F3E3-DEB1601B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0B1F89-DB22-29E7-BDDE-D2B07716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BD5057-A064-F296-E74F-9A20DD457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CA5A76E-1BE9-DE6B-CCFB-595ACE420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12D8C55-4D0C-0C0E-9BD8-969EBF7E0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14326A-981E-ABE6-7037-66B23215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A13DD33-F421-04D4-2E85-402D691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1486A53-9A33-53F6-58C9-8DC4AC20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08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002FF-5959-AF88-0EF3-B57ADAEB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CB27E63-36B7-974C-B17B-C14DDBEE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63D3801-95F7-40A2-2C77-3F775101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B467B9D-FB68-3076-D3E8-A7F9BA7E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6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652CBC3-32C0-45D0-180C-471527CE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D35F8E-A0EE-0033-AD5B-9AD38F8F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40046E-5198-7310-55BD-79CD191E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502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C671D8-51CF-ABCF-2A9C-BE0BEB6D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136AFE-FC49-562F-8EAA-68D1F799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849E84-5191-4DC0-C0B0-2AA364C76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9556FF-0053-68B2-C107-36A7804B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3DF5BB-AD36-B232-A3C6-0C83215E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6ADC93-FAE3-CF87-45EB-74986D1C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5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367B4-AB5C-8A1C-D22E-79D0F726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68CD6DC-8109-573E-6D33-963884639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F1511B-F74B-0472-2C39-2F52F9DEF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2DCA70-813A-D8DC-39CF-AB7111A58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A099E4-ACC2-5CA8-5899-D8EF3FBB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84453D-D89E-6780-4FA0-7A9F4E88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28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880C0E-2BB9-B6E9-5963-4895BB22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63E980F-164C-397A-A65D-9750EDD89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8F4705-0034-8251-7596-1E9F7B34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AB1B92-5FE8-A26D-D773-FAB78E1B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F0FF1A-D596-88F5-013A-D7CBF98DC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25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CC5D492-1B50-AB31-44B0-A1D61CA0B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7E3FCB-DC8C-1D9F-179C-36211146C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F72B78-7B9D-9D5F-D4E0-8F36D6A2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56385C-CA34-803C-6D27-7EA0C814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476399-8658-65BE-518E-DD422AD0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84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9C863A9-512D-C005-C801-911E0F02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D9BA23-CC5D-6D71-C6F8-511AF84B3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2CA070-78E3-5A05-C405-85F3ED1D0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E9FA-9981-41AB-B070-F2DAFECAEE27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0001D1-32F0-2FA9-FF5B-19AFA8F24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E927AE-77E0-8A76-F6E9-017D5A90A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AF143-62B2-4C0D-99CA-FD74BFEB76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68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17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6.png"/><Relationship Id="rId2" Type="http://schemas.openxmlformats.org/officeDocument/2006/relationships/slide" Target="slide1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6.xml"/><Relationship Id="rId5" Type="http://schemas.openxmlformats.org/officeDocument/2006/relationships/image" Target="../media/image3.png"/><Relationship Id="rId15" Type="http://schemas.openxmlformats.org/officeDocument/2006/relationships/slide" Target="slide8.xml"/><Relationship Id="rId10" Type="http://schemas.openxmlformats.org/officeDocument/2006/relationships/image" Target="../media/image5.png"/><Relationship Id="rId4" Type="http://schemas.openxmlformats.org/officeDocument/2006/relationships/slide" Target="slide12.xml"/><Relationship Id="rId9" Type="http://schemas.openxmlformats.org/officeDocument/2006/relationships/slide" Target="slide14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slide" Target="slide23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slide" Target="slide19.xml"/><Relationship Id="rId10" Type="http://schemas.openxmlformats.org/officeDocument/2006/relationships/image" Target="../media/image12.png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slide" Target="slide34.xml"/><Relationship Id="rId18" Type="http://schemas.openxmlformats.org/officeDocument/2006/relationships/image" Target="../media/image20.png"/><Relationship Id="rId3" Type="http://schemas.openxmlformats.org/officeDocument/2006/relationships/slide" Target="slide42.xml"/><Relationship Id="rId21" Type="http://schemas.openxmlformats.org/officeDocument/2006/relationships/slide" Target="slide25.xml"/><Relationship Id="rId7" Type="http://schemas.openxmlformats.org/officeDocument/2006/relationships/slide" Target="slide27.xml"/><Relationship Id="rId12" Type="http://schemas.openxmlformats.org/officeDocument/2006/relationships/image" Target="../media/image17.png"/><Relationship Id="rId17" Type="http://schemas.openxmlformats.org/officeDocument/2006/relationships/slide" Target="slide38.xml"/><Relationship Id="rId2" Type="http://schemas.openxmlformats.org/officeDocument/2006/relationships/slide" Target="slide1.xml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slide" Target="slide31.xml"/><Relationship Id="rId5" Type="http://schemas.openxmlformats.org/officeDocument/2006/relationships/slide" Target="slide8.xml"/><Relationship Id="rId15" Type="http://schemas.openxmlformats.org/officeDocument/2006/relationships/slide" Target="slide36.xml"/><Relationship Id="rId10" Type="http://schemas.openxmlformats.org/officeDocument/2006/relationships/image" Target="../media/image16.png"/><Relationship Id="rId19" Type="http://schemas.openxmlformats.org/officeDocument/2006/relationships/slide" Target="slide40.xml"/><Relationship Id="rId4" Type="http://schemas.openxmlformats.org/officeDocument/2006/relationships/image" Target="../media/image13.png"/><Relationship Id="rId9" Type="http://schemas.openxmlformats.org/officeDocument/2006/relationships/slide" Target="slide29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slide" Target="slide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22639-DA3B-3027-434B-269B1CA1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網際網路程式設計專題報告</a:t>
            </a:r>
            <a:br>
              <a:rPr lang="en-US" altLang="zh-TW" dirty="0"/>
            </a:br>
            <a:r>
              <a:rPr lang="zh-TW" altLang="en-US" dirty="0"/>
              <a:t>牙科診所掛號系統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9D709EF-D08D-4612-816D-F7CA91F30C8A}"/>
              </a:ext>
            </a:extLst>
          </p:cNvPr>
          <p:cNvSpPr txBox="1"/>
          <p:nvPr/>
        </p:nvSpPr>
        <p:spPr>
          <a:xfrm>
            <a:off x="1286933" y="2820370"/>
            <a:ext cx="9618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dirty="0">
                <a:hlinkClick r:id="rId2" action="ppaction://hlinksldjump"/>
              </a:rPr>
              <a:t>Django</a:t>
            </a:r>
            <a:r>
              <a:rPr lang="zh-TW" altLang="en-US" sz="3000" dirty="0">
                <a:hlinkClick r:id="rId2" action="ppaction://hlinksldjump"/>
              </a:rPr>
              <a:t>使用</a:t>
            </a:r>
            <a:r>
              <a:rPr lang="en-US" altLang="zh-TW" sz="3000" dirty="0">
                <a:hlinkClick r:id="rId2" action="ppaction://hlinksldjump"/>
              </a:rPr>
              <a:t>--------------------------------------------------------------p2</a:t>
            </a:r>
            <a:endParaRPr lang="en-US" altLang="zh-TW" sz="3000" dirty="0"/>
          </a:p>
          <a:p>
            <a:r>
              <a:rPr lang="zh-TW" altLang="en-US" sz="3000" dirty="0">
                <a:hlinkClick r:id="rId3" action="ppaction://hlinksldjump"/>
              </a:rPr>
              <a:t>使用方法</a:t>
            </a:r>
            <a:r>
              <a:rPr lang="en-US" altLang="zh-TW" sz="3000" dirty="0">
                <a:hlinkClick r:id="rId3" action="ppaction://hlinksldjump"/>
              </a:rPr>
              <a:t>----------------------------------------------------------------p3</a:t>
            </a:r>
            <a:endParaRPr lang="en-US" altLang="zh-TW" sz="3000" dirty="0"/>
          </a:p>
          <a:p>
            <a:r>
              <a:rPr lang="zh-TW" altLang="en-US" sz="3000" dirty="0">
                <a:hlinkClick r:id="rId4" action="ppaction://hlinksldjump"/>
              </a:rPr>
              <a:t>介面架構</a:t>
            </a:r>
            <a:r>
              <a:rPr lang="en-US" altLang="zh-TW" sz="3000" dirty="0">
                <a:hlinkClick r:id="rId4" action="ppaction://hlinksldjump"/>
              </a:rPr>
              <a:t>--------------------------------------------------------------p4-6</a:t>
            </a:r>
            <a:endParaRPr lang="en-US" altLang="zh-TW" sz="3000" dirty="0"/>
          </a:p>
          <a:p>
            <a:r>
              <a:rPr lang="zh-TW" altLang="en-US" sz="3000" dirty="0">
                <a:hlinkClick r:id="rId5" action="ppaction://hlinksldjump"/>
              </a:rPr>
              <a:t>程式碼詳細說明</a:t>
            </a:r>
            <a:r>
              <a:rPr lang="en-US" altLang="zh-TW" sz="3000" dirty="0">
                <a:hlinkClick r:id="rId5" action="ppaction://hlinksldjump"/>
              </a:rPr>
              <a:t>--------------------------------------------------p7-41</a:t>
            </a:r>
            <a:endParaRPr lang="en-US" altLang="zh-TW" sz="3000" dirty="0"/>
          </a:p>
        </p:txBody>
      </p:sp>
    </p:spTree>
    <p:extLst>
      <p:ext uri="{BB962C8B-B14F-4D97-AF65-F5344CB8AC3E}">
        <p14:creationId xmlns:p14="http://schemas.microsoft.com/office/powerpoint/2010/main" val="209741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305FB57-F23D-5BF7-D083-0147C5767450}"/>
              </a:ext>
            </a:extLst>
          </p:cNvPr>
          <p:cNvSpPr txBox="1"/>
          <p:nvPr/>
        </p:nvSpPr>
        <p:spPr>
          <a:xfrm>
            <a:off x="349858" y="294198"/>
            <a:ext cx="20756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/>
              <a:t>Django</a:t>
            </a:r>
            <a:r>
              <a:rPr lang="zh-TW" altLang="en-US" sz="3000" b="1" dirty="0"/>
              <a:t>使用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A0B5BE7-88F7-A683-735C-2DED2FE4C8A4}"/>
              </a:ext>
            </a:extLst>
          </p:cNvPr>
          <p:cNvSpPr txBox="1"/>
          <p:nvPr/>
        </p:nvSpPr>
        <p:spPr>
          <a:xfrm>
            <a:off x="1062297" y="848196"/>
            <a:ext cx="2726387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一、</a:t>
            </a:r>
            <a:r>
              <a:rPr lang="en-US" altLang="zh-TW" dirty="0"/>
              <a:t>basic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1.views.py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(1)index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(2)logon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(3)login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(4)</a:t>
            </a:r>
            <a:r>
              <a:rPr lang="en-US" altLang="zh-TW" dirty="0" err="1"/>
              <a:t>password_recovery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(5)logout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(6)services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(7)dentists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(8)contact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2.models.py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(1)Info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(2)Service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(3)Schedule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(4)Dentist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(5)Contact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3.forms.py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</a:t>
            </a:r>
            <a:r>
              <a:rPr lang="en-US" altLang="zh-TW" dirty="0" err="1"/>
              <a:t>LoginForm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(2)</a:t>
            </a:r>
            <a:r>
              <a:rPr lang="en-US" altLang="zh-TW" dirty="0" err="1"/>
              <a:t>PasswordForm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(3)</a:t>
            </a:r>
            <a:r>
              <a:rPr lang="en-US" altLang="zh-TW" dirty="0" err="1"/>
              <a:t>LogonForm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4.admin.py</a:t>
            </a:r>
          </a:p>
          <a:p>
            <a:endParaRPr lang="en-US" altLang="zh-TW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0540A2-878F-8FF6-5CA5-30173AD03D07}"/>
              </a:ext>
            </a:extLst>
          </p:cNvPr>
          <p:cNvSpPr txBox="1"/>
          <p:nvPr/>
        </p:nvSpPr>
        <p:spPr>
          <a:xfrm>
            <a:off x="8403316" y="848196"/>
            <a:ext cx="255897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三、</a:t>
            </a:r>
            <a:r>
              <a:rPr lang="en-US" altLang="zh-TW" dirty="0"/>
              <a:t>manager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1.views.py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</a:t>
            </a:r>
            <a:r>
              <a:rPr lang="en-US" altLang="zh-TW" dirty="0" err="1"/>
              <a:t>service_manage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(2)</a:t>
            </a:r>
            <a:r>
              <a:rPr lang="en-US" altLang="zh-TW" dirty="0" err="1"/>
              <a:t>service_edit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(3)</a:t>
            </a:r>
            <a:r>
              <a:rPr lang="en-US" altLang="zh-TW" dirty="0" err="1"/>
              <a:t>service_delete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(4)</a:t>
            </a:r>
            <a:r>
              <a:rPr lang="en-US" altLang="zh-TW" dirty="0" err="1"/>
              <a:t>dentist_manage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(5)</a:t>
            </a:r>
            <a:r>
              <a:rPr lang="en-US" altLang="zh-TW" dirty="0" err="1"/>
              <a:t>dentist_edit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(6)</a:t>
            </a:r>
            <a:r>
              <a:rPr lang="en-US" altLang="zh-TW" dirty="0" err="1"/>
              <a:t>dentist_delete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(7)</a:t>
            </a:r>
            <a:r>
              <a:rPr lang="en-US" altLang="zh-TW" dirty="0" err="1"/>
              <a:t>register_manage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(8)</a:t>
            </a:r>
            <a:r>
              <a:rPr lang="en-US" altLang="zh-TW" dirty="0" err="1"/>
              <a:t>register_edit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(9)</a:t>
            </a:r>
            <a:r>
              <a:rPr lang="en-US" altLang="zh-TW" dirty="0" err="1"/>
              <a:t>register_delete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(10)</a:t>
            </a:r>
            <a:r>
              <a:rPr lang="en-US" altLang="zh-TW" dirty="0" err="1"/>
              <a:t>patient_manage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(11)</a:t>
            </a:r>
            <a:r>
              <a:rPr lang="en-US" altLang="zh-TW" dirty="0" err="1"/>
              <a:t>patient_edit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(12)</a:t>
            </a:r>
            <a:r>
              <a:rPr lang="en-US" altLang="zh-TW" dirty="0" err="1"/>
              <a:t>patient_delete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2.forms.py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</a:t>
            </a:r>
            <a:r>
              <a:rPr lang="en-US" altLang="zh-TW" dirty="0" err="1"/>
              <a:t>ServiceForm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(2)</a:t>
            </a:r>
            <a:r>
              <a:rPr lang="en-US" altLang="zh-TW" dirty="0" err="1"/>
              <a:t>DentistForm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(3)</a:t>
            </a:r>
            <a:r>
              <a:rPr lang="en-US" altLang="zh-TW" dirty="0" err="1"/>
              <a:t>PatientForm</a:t>
            </a:r>
            <a:endParaRPr lang="en-US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6A4A5D-804D-9F8D-D9F3-C4CCB8A5A05E}"/>
              </a:ext>
            </a:extLst>
          </p:cNvPr>
          <p:cNvSpPr txBox="1"/>
          <p:nvPr/>
        </p:nvSpPr>
        <p:spPr>
          <a:xfrm>
            <a:off x="5021539" y="848196"/>
            <a:ext cx="21489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二、</a:t>
            </a:r>
            <a:r>
              <a:rPr lang="en-US" altLang="zh-TW" dirty="0"/>
              <a:t>patient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1.views.py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(1)info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(2)register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(3)search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2.models.py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(1)Register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3.forms.py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(1)</a:t>
            </a:r>
            <a:r>
              <a:rPr lang="en-US" altLang="zh-TW" dirty="0" err="1"/>
              <a:t>RegisterForm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(2)</a:t>
            </a:r>
            <a:r>
              <a:rPr lang="en-US" altLang="zh-TW" dirty="0" err="1"/>
              <a:t>InfoForm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4.admin.py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0F512E-627C-FBB0-D4E6-13FA4A3D9B7E}"/>
              </a:ext>
            </a:extLst>
          </p:cNvPr>
          <p:cNvSpPr txBox="1"/>
          <p:nvPr/>
        </p:nvSpPr>
        <p:spPr>
          <a:xfrm>
            <a:off x="8796867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59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659E6E0-3620-0ABA-1DF2-745E926771EC}"/>
              </a:ext>
            </a:extLst>
          </p:cNvPr>
          <p:cNvSpPr txBox="1"/>
          <p:nvPr/>
        </p:nvSpPr>
        <p:spPr>
          <a:xfrm>
            <a:off x="349858" y="294198"/>
            <a:ext cx="20756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/>
              <a:t>Django</a:t>
            </a:r>
            <a:r>
              <a:rPr lang="zh-TW" altLang="en-US" sz="3000" b="1" dirty="0"/>
              <a:t>使用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A7AA599-4D83-3A11-333B-3B62D99411E3}"/>
              </a:ext>
            </a:extLst>
          </p:cNvPr>
          <p:cNvSpPr txBox="1"/>
          <p:nvPr/>
        </p:nvSpPr>
        <p:spPr>
          <a:xfrm>
            <a:off x="8796867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3B3D5B6-6271-9CEE-494D-3A442225E342}"/>
              </a:ext>
            </a:extLst>
          </p:cNvPr>
          <p:cNvSpPr txBox="1"/>
          <p:nvPr/>
        </p:nvSpPr>
        <p:spPr>
          <a:xfrm>
            <a:off x="1062297" y="848196"/>
            <a:ext cx="1337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資料庫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(1)default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605CFA3-01AC-50B6-18EF-D24DF1819C72}"/>
              </a:ext>
            </a:extLst>
          </p:cNvPr>
          <p:cNvSpPr txBox="1"/>
          <p:nvPr/>
        </p:nvSpPr>
        <p:spPr>
          <a:xfrm>
            <a:off x="5021539" y="848196"/>
            <a:ext cx="227664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templates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(1)base.html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(2)header.html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(3)footer.html</a:t>
            </a:r>
          </a:p>
          <a:p>
            <a:r>
              <a:rPr lang="en-US" altLang="zh-TW" dirty="0"/>
              <a:t>static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(1){%load static%}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(2)bootstrap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(3)images</a:t>
            </a:r>
          </a:p>
          <a:p>
            <a:r>
              <a:rPr lang="en-US" altLang="zh-TW" dirty="0"/>
              <a:t>Http404</a:t>
            </a:r>
          </a:p>
          <a:p>
            <a:r>
              <a:rPr lang="en-US" altLang="zh-TW" dirty="0" err="1"/>
              <a:t>HttpResponseRedirect</a:t>
            </a:r>
            <a:endParaRPr lang="en-US" altLang="zh-TW" dirty="0"/>
          </a:p>
          <a:p>
            <a:r>
              <a:rPr lang="en-US" altLang="zh-TW" dirty="0" err="1"/>
              <a:t>url</a:t>
            </a:r>
            <a:r>
              <a:rPr lang="zh-TW" altLang="en-US" dirty="0"/>
              <a:t>反解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en-US" altLang="zh-TW" dirty="0" err="1"/>
              <a:t>register_edit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en-US" altLang="zh-TW" dirty="0" err="1"/>
              <a:t>register_delete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en-US" altLang="zh-TW" dirty="0" err="1"/>
              <a:t>patient_edit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patient_delete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en-US" altLang="zh-TW" dirty="0" err="1"/>
              <a:t>dentist_edit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(6)</a:t>
            </a:r>
            <a:r>
              <a:rPr lang="en-US" altLang="zh-TW" dirty="0" err="1"/>
              <a:t>dentist_delete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(7)</a:t>
            </a:r>
            <a:r>
              <a:rPr lang="en-US" altLang="zh-TW" dirty="0" err="1"/>
              <a:t>service_manage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(8)</a:t>
            </a:r>
            <a:r>
              <a:rPr lang="en-US" altLang="zh-TW" dirty="0" err="1"/>
              <a:t>service_edit</a:t>
            </a:r>
            <a:endParaRPr lang="en-US" altLang="zh-TW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D8DDA72-25AC-8E2B-67F4-F9524D3BB3AD}"/>
              </a:ext>
            </a:extLst>
          </p:cNvPr>
          <p:cNvSpPr txBox="1"/>
          <p:nvPr/>
        </p:nvSpPr>
        <p:spPr>
          <a:xfrm>
            <a:off x="8403316" y="848196"/>
            <a:ext cx="249555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en-US" altLang="zh-TW" dirty="0" err="1"/>
              <a:t>LoginForm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en-US" altLang="zh-TW" dirty="0" err="1"/>
              <a:t>PasswordForm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en-US" altLang="zh-TW" dirty="0" err="1"/>
              <a:t>LogonForm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ServiceForm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en-US" altLang="zh-TW" dirty="0" err="1"/>
              <a:t>DentistForm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en-US" altLang="zh-TW" dirty="0" err="1"/>
              <a:t>PatientForm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en-US" altLang="zh-TW" dirty="0" err="1"/>
              <a:t>RegisterForm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InfoForm</a:t>
            </a:r>
            <a:endParaRPr lang="en-US" altLang="zh-TW" dirty="0"/>
          </a:p>
          <a:p>
            <a:r>
              <a:rPr lang="zh-TW" altLang="en-US" dirty="0"/>
              <a:t>機器人驗證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(1)login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(2)logon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en-US" altLang="zh-TW" dirty="0" err="1"/>
              <a:t>password_recovery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(4)info</a:t>
            </a:r>
          </a:p>
          <a:p>
            <a:r>
              <a:rPr lang="en-US" altLang="zh-TW" dirty="0"/>
              <a:t>cycle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(1)index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8FA2BAE-1264-EE79-6837-EE7F3C52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74" y="1525059"/>
            <a:ext cx="3600000" cy="317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4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1EFB711-FDC3-9D02-93F1-FD6AAE39180F}"/>
              </a:ext>
            </a:extLst>
          </p:cNvPr>
          <p:cNvCxnSpPr/>
          <p:nvPr/>
        </p:nvCxnSpPr>
        <p:spPr>
          <a:xfrm flipV="1">
            <a:off x="10954935" y="3013544"/>
            <a:ext cx="0" cy="4154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03508E8-824A-BE87-54AA-76BFAB833A4C}"/>
              </a:ext>
            </a:extLst>
          </p:cNvPr>
          <p:cNvCxnSpPr>
            <a:cxnSpLocks/>
          </p:cNvCxnSpPr>
          <p:nvPr/>
        </p:nvCxnSpPr>
        <p:spPr>
          <a:xfrm>
            <a:off x="1169194" y="3013544"/>
            <a:ext cx="982189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4CE0C3BB-8814-F378-135C-F7AA064CBFFA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6095999" y="2667832"/>
            <a:ext cx="1" cy="76963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8DF9FB03-CEE3-BA81-99DA-BAAC3626C669}"/>
              </a:ext>
            </a:extLst>
          </p:cNvPr>
          <p:cNvCxnSpPr>
            <a:stCxn id="22" idx="0"/>
          </p:cNvCxnSpPr>
          <p:nvPr/>
        </p:nvCxnSpPr>
        <p:spPr>
          <a:xfrm flipV="1">
            <a:off x="3659640" y="3022011"/>
            <a:ext cx="0" cy="4154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1EAA9BFF-DE72-A960-1082-D51E16D1A209}"/>
              </a:ext>
            </a:extLst>
          </p:cNvPr>
          <p:cNvCxnSpPr/>
          <p:nvPr/>
        </p:nvCxnSpPr>
        <p:spPr>
          <a:xfrm flipV="1">
            <a:off x="8525369" y="3017948"/>
            <a:ext cx="0" cy="4154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161C0FD3-3204-1720-47ED-5B8E106CE9D4}"/>
              </a:ext>
            </a:extLst>
          </p:cNvPr>
          <p:cNvCxnSpPr/>
          <p:nvPr/>
        </p:nvCxnSpPr>
        <p:spPr>
          <a:xfrm flipV="1">
            <a:off x="1207393" y="3013544"/>
            <a:ext cx="0" cy="4154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D8453D4-41BF-9346-10DE-FBC1068719E5}"/>
              </a:ext>
            </a:extLst>
          </p:cNvPr>
          <p:cNvCxnSpPr/>
          <p:nvPr/>
        </p:nvCxnSpPr>
        <p:spPr>
          <a:xfrm flipV="1">
            <a:off x="8523164" y="4689000"/>
            <a:ext cx="0" cy="4154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07A0A9-99DE-2B79-BFE7-3562D6946BB0}"/>
              </a:ext>
            </a:extLst>
          </p:cNvPr>
          <p:cNvSpPr txBox="1"/>
          <p:nvPr/>
        </p:nvSpPr>
        <p:spPr>
          <a:xfrm>
            <a:off x="636105" y="355365"/>
            <a:ext cx="1338828" cy="50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未登入</a:t>
            </a:r>
          </a:p>
        </p:txBody>
      </p:sp>
      <p:pic>
        <p:nvPicPr>
          <p:cNvPr id="22" name="圖片 21">
            <a:hlinkClick r:id="rId2" action="ppaction://hlinksldjump"/>
            <a:extLst>
              <a:ext uri="{FF2B5EF4-FFF2-40B4-BE49-F238E27FC236}">
                <a16:creationId xmlns:a16="http://schemas.microsoft.com/office/drawing/2014/main" id="{438FB405-3260-A224-ABF7-054F5F917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016" y="3437467"/>
            <a:ext cx="2391248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圖片 23">
            <a:hlinkClick r:id="rId4" action="ppaction://hlinksldjump"/>
            <a:extLst>
              <a:ext uri="{FF2B5EF4-FFF2-40B4-BE49-F238E27FC236}">
                <a16:creationId xmlns:a16="http://schemas.microsoft.com/office/drawing/2014/main" id="{5529A802-4882-0E3E-449D-60DB741CE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998" y="3437467"/>
            <a:ext cx="2390001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6" name="圖片 45">
            <a:hlinkClick r:id="rId6" action="ppaction://hlinksldjump"/>
            <a:extLst>
              <a:ext uri="{FF2B5EF4-FFF2-40B4-BE49-F238E27FC236}">
                <a16:creationId xmlns:a16="http://schemas.microsoft.com/office/drawing/2014/main" id="{5B4629D4-DAE9-6A54-CF0A-5C3EC50C1FF9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4795" y="3437467"/>
            <a:ext cx="23904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4C535424-7BDE-AFC4-C8F8-DF127EA56C90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8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8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8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hlinkClick r:id="rId9" action="ppaction://hlinksldjump"/>
            <a:extLst>
              <a:ext uri="{FF2B5EF4-FFF2-40B4-BE49-F238E27FC236}">
                <a16:creationId xmlns:a16="http://schemas.microsoft.com/office/drawing/2014/main" id="{022C90DA-B7FE-D3CA-55F0-6FEB20D2EB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4008" y="3433404"/>
            <a:ext cx="2390257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圖片 4">
            <a:hlinkClick r:id="rId11" action="ppaction://hlinksldjump"/>
            <a:extLst>
              <a:ext uri="{FF2B5EF4-FFF2-40B4-BE49-F238E27FC236}">
                <a16:creationId xmlns:a16="http://schemas.microsoft.com/office/drawing/2014/main" id="{CA3D3C46-37CD-75AF-89FB-411F8E6919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6200" y="5100052"/>
            <a:ext cx="2433542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圖片 7">
            <a:hlinkClick r:id="rId13" action="ppaction://hlinksldjump"/>
            <a:extLst>
              <a:ext uri="{FF2B5EF4-FFF2-40B4-BE49-F238E27FC236}">
                <a16:creationId xmlns:a16="http://schemas.microsoft.com/office/drawing/2014/main" id="{6F4B81B0-EF8B-379B-1616-3C18B80BF6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9822" y="3437127"/>
            <a:ext cx="2379309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圖片 9">
            <a:hlinkClick r:id="rId15" action="ppaction://hlinksldjump"/>
            <a:extLst>
              <a:ext uri="{FF2B5EF4-FFF2-40B4-BE49-F238E27FC236}">
                <a16:creationId xmlns:a16="http://schemas.microsoft.com/office/drawing/2014/main" id="{25326114-5C5B-ED18-F256-F0F05AE7EBF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5998" y="927037"/>
            <a:ext cx="3600000" cy="17537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975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C019B95-7080-3579-4D15-844809E04B13}"/>
              </a:ext>
            </a:extLst>
          </p:cNvPr>
          <p:cNvSpPr txBox="1"/>
          <p:nvPr/>
        </p:nvSpPr>
        <p:spPr>
          <a:xfrm>
            <a:off x="636105" y="355365"/>
            <a:ext cx="1723549" cy="54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病人登入</a:t>
            </a:r>
          </a:p>
        </p:txBody>
      </p:sp>
      <p:pic>
        <p:nvPicPr>
          <p:cNvPr id="11" name="圖片 10">
            <a:hlinkClick r:id="rId2" action="ppaction://hlinksldjump"/>
            <a:extLst>
              <a:ext uri="{FF2B5EF4-FFF2-40B4-BE49-F238E27FC236}">
                <a16:creationId xmlns:a16="http://schemas.microsoft.com/office/drawing/2014/main" id="{FEBB1783-5F06-440D-62E0-C9A36EC1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818" y="3429000"/>
            <a:ext cx="3436363" cy="18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438E15F-4F3E-286B-D793-05708897143C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096000" y="2695365"/>
            <a:ext cx="0" cy="73363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CBDDADF-9F53-5473-F29D-5964803F39FC}"/>
              </a:ext>
            </a:extLst>
          </p:cNvPr>
          <p:cNvCxnSpPr>
            <a:cxnSpLocks/>
          </p:cNvCxnSpPr>
          <p:nvPr/>
        </p:nvCxnSpPr>
        <p:spPr>
          <a:xfrm flipV="1">
            <a:off x="2017077" y="3055620"/>
            <a:ext cx="0" cy="360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D458575-81D3-383B-B7B2-28665B762E27}"/>
              </a:ext>
            </a:extLst>
          </p:cNvPr>
          <p:cNvCxnSpPr>
            <a:cxnSpLocks/>
          </p:cNvCxnSpPr>
          <p:nvPr/>
        </p:nvCxnSpPr>
        <p:spPr>
          <a:xfrm flipV="1">
            <a:off x="10151730" y="3029880"/>
            <a:ext cx="0" cy="360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795142E-2FC2-DCEC-746D-907079E1D900}"/>
              </a:ext>
            </a:extLst>
          </p:cNvPr>
          <p:cNvCxnSpPr>
            <a:cxnSpLocks/>
          </p:cNvCxnSpPr>
          <p:nvPr/>
        </p:nvCxnSpPr>
        <p:spPr>
          <a:xfrm>
            <a:off x="1978025" y="3055620"/>
            <a:ext cx="821180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60D7EA5-63C6-9CF7-0F6B-B3FCDFCCB0D3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4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hlinkClick r:id="rId5" action="ppaction://hlinksldjump"/>
            <a:extLst>
              <a:ext uri="{FF2B5EF4-FFF2-40B4-BE49-F238E27FC236}">
                <a16:creationId xmlns:a16="http://schemas.microsoft.com/office/drawing/2014/main" id="{5D11650B-3C16-00CC-1692-95B1FDE72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270" y="3451286"/>
            <a:ext cx="3600000" cy="1894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圖片 5">
            <a:hlinkClick r:id="rId7" action="ppaction://hlinksldjump"/>
            <a:extLst>
              <a:ext uri="{FF2B5EF4-FFF2-40B4-BE49-F238E27FC236}">
                <a16:creationId xmlns:a16="http://schemas.microsoft.com/office/drawing/2014/main" id="{08BE1338-D693-492D-C7E0-09913159E9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9830" y="3377222"/>
            <a:ext cx="3600000" cy="19035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圖片 7">
            <a:hlinkClick r:id="rId9" action="ppaction://hlinksldjump"/>
            <a:extLst>
              <a:ext uri="{FF2B5EF4-FFF2-40B4-BE49-F238E27FC236}">
                <a16:creationId xmlns:a16="http://schemas.microsoft.com/office/drawing/2014/main" id="{E9906BAA-0AF2-ECCE-90B3-BD8994A902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3927" y="933166"/>
            <a:ext cx="3600000" cy="1749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829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字方塊 61">
            <a:extLst>
              <a:ext uri="{FF2B5EF4-FFF2-40B4-BE49-F238E27FC236}">
                <a16:creationId xmlns:a16="http://schemas.microsoft.com/office/drawing/2014/main" id="{3A453C37-C02E-AC5C-6825-78B2967AAD0A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2BF44F7-F721-39ED-7021-DA9F892B7A62}"/>
              </a:ext>
            </a:extLst>
          </p:cNvPr>
          <p:cNvSpPr txBox="1"/>
          <p:nvPr/>
        </p:nvSpPr>
        <p:spPr>
          <a:xfrm>
            <a:off x="636105" y="355365"/>
            <a:ext cx="21082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管理者登入</a:t>
            </a: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B29F0B07-2EC5-80DA-9DEE-E52CCE00A5C7}"/>
              </a:ext>
            </a:extLst>
          </p:cNvPr>
          <p:cNvCxnSpPr>
            <a:cxnSpLocks/>
          </p:cNvCxnSpPr>
          <p:nvPr/>
        </p:nvCxnSpPr>
        <p:spPr>
          <a:xfrm flipH="1" flipV="1">
            <a:off x="1058459" y="2769078"/>
            <a:ext cx="2395" cy="360717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1A277E64-61CA-871C-F743-793FABE594BF}"/>
              </a:ext>
            </a:extLst>
          </p:cNvPr>
          <p:cNvCxnSpPr>
            <a:cxnSpLocks/>
          </p:cNvCxnSpPr>
          <p:nvPr/>
        </p:nvCxnSpPr>
        <p:spPr>
          <a:xfrm flipV="1">
            <a:off x="1060854" y="4389795"/>
            <a:ext cx="0" cy="614301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0A44CCED-C49A-0451-E3B9-5F44290F864E}"/>
              </a:ext>
            </a:extLst>
          </p:cNvPr>
          <p:cNvCxnSpPr>
            <a:cxnSpLocks/>
          </p:cNvCxnSpPr>
          <p:nvPr/>
        </p:nvCxnSpPr>
        <p:spPr>
          <a:xfrm flipV="1">
            <a:off x="3576063" y="4389795"/>
            <a:ext cx="4727" cy="614301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FB95257-3580-501E-3576-5B0AF0F04F42}"/>
              </a:ext>
            </a:extLst>
          </p:cNvPr>
          <p:cNvCxnSpPr>
            <a:cxnSpLocks/>
          </p:cNvCxnSpPr>
          <p:nvPr/>
        </p:nvCxnSpPr>
        <p:spPr>
          <a:xfrm flipV="1">
            <a:off x="6087614" y="4390705"/>
            <a:ext cx="8385" cy="62119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1908A774-9C93-646E-55A5-3FC5640BC070}"/>
              </a:ext>
            </a:extLst>
          </p:cNvPr>
          <p:cNvCxnSpPr>
            <a:cxnSpLocks/>
          </p:cNvCxnSpPr>
          <p:nvPr/>
        </p:nvCxnSpPr>
        <p:spPr>
          <a:xfrm flipV="1">
            <a:off x="8611208" y="4394343"/>
            <a:ext cx="0" cy="617552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F06F11CD-38DD-FCF9-012E-2261A18F3380}"/>
              </a:ext>
            </a:extLst>
          </p:cNvPr>
          <p:cNvCxnSpPr>
            <a:cxnSpLocks/>
          </p:cNvCxnSpPr>
          <p:nvPr/>
        </p:nvCxnSpPr>
        <p:spPr>
          <a:xfrm flipH="1" flipV="1">
            <a:off x="3576000" y="2769079"/>
            <a:ext cx="4790" cy="360716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5FA17D23-7864-D0C2-3319-B89FB8706DFD}"/>
              </a:ext>
            </a:extLst>
          </p:cNvPr>
          <p:cNvCxnSpPr>
            <a:cxnSpLocks/>
          </p:cNvCxnSpPr>
          <p:nvPr/>
        </p:nvCxnSpPr>
        <p:spPr>
          <a:xfrm flipH="1" flipV="1">
            <a:off x="8611145" y="2800411"/>
            <a:ext cx="63" cy="333932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D220BCBC-3653-C273-7A65-72AA7352B458}"/>
              </a:ext>
            </a:extLst>
          </p:cNvPr>
          <p:cNvCxnSpPr>
            <a:cxnSpLocks/>
          </p:cNvCxnSpPr>
          <p:nvPr/>
        </p:nvCxnSpPr>
        <p:spPr>
          <a:xfrm>
            <a:off x="1019175" y="2769079"/>
            <a:ext cx="10144125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DDE9852E-8123-84B3-7344-21ABFFE61949}"/>
              </a:ext>
            </a:extLst>
          </p:cNvPr>
          <p:cNvCxnSpPr>
            <a:cxnSpLocks/>
          </p:cNvCxnSpPr>
          <p:nvPr/>
        </p:nvCxnSpPr>
        <p:spPr>
          <a:xfrm>
            <a:off x="6095999" y="2402731"/>
            <a:ext cx="0" cy="7279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圖片 62">
            <a:hlinkClick r:id="rId3" action="ppaction://hlinksldjump"/>
            <a:extLst>
              <a:ext uri="{FF2B5EF4-FFF2-40B4-BE49-F238E27FC236}">
                <a16:creationId xmlns:a16="http://schemas.microsoft.com/office/drawing/2014/main" id="{95D826B6-B7A2-6A28-CB17-6454AE46B5F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045409" y="3129795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B6E3600E-0365-5D68-19F7-5BC9E71DC336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11125409" y="2800411"/>
            <a:ext cx="0" cy="329384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圖片 72">
            <a:hlinkClick r:id="rId5" action="ppaction://hlinksldjump"/>
            <a:extLst>
              <a:ext uri="{FF2B5EF4-FFF2-40B4-BE49-F238E27FC236}">
                <a16:creationId xmlns:a16="http://schemas.microsoft.com/office/drawing/2014/main" id="{AF759C10-FD89-8B69-1748-FF752F46B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999" y="633930"/>
            <a:ext cx="3600000" cy="1750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7" name="圖片 76">
            <a:hlinkClick r:id="rId7" action="ppaction://hlinksldjump"/>
            <a:extLst>
              <a:ext uri="{FF2B5EF4-FFF2-40B4-BE49-F238E27FC236}">
                <a16:creationId xmlns:a16="http://schemas.microsoft.com/office/drawing/2014/main" id="{8F4AE3AA-958D-1256-6E2E-DFA97CAEC418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9007" y="5004096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9" name="圖片 78">
            <a:hlinkClick r:id="rId9" action="ppaction://hlinksldjump"/>
            <a:extLst>
              <a:ext uri="{FF2B5EF4-FFF2-40B4-BE49-F238E27FC236}">
                <a16:creationId xmlns:a16="http://schemas.microsoft.com/office/drawing/2014/main" id="{B010924D-27BC-97D8-6002-680B8B537D07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2486954" y="3120604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1" name="圖片 80">
            <a:hlinkClick r:id="rId11" action="ppaction://hlinksldjump"/>
            <a:extLst>
              <a:ext uri="{FF2B5EF4-FFF2-40B4-BE49-F238E27FC236}">
                <a16:creationId xmlns:a16="http://schemas.microsoft.com/office/drawing/2014/main" id="{B4683D88-4674-3C40-ED61-10E2071CF2CF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2492405" y="5004096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3" name="圖片 82">
            <a:hlinkClick r:id="rId13" action="ppaction://hlinksldjump"/>
            <a:extLst>
              <a:ext uri="{FF2B5EF4-FFF2-40B4-BE49-F238E27FC236}">
                <a16:creationId xmlns:a16="http://schemas.microsoft.com/office/drawing/2014/main" id="{B5377E02-2996-CE58-A518-4AB103398273}"/>
              </a:ext>
            </a:extLst>
          </p:cNvPr>
          <p:cNvPicPr preferRelativeResize="0"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5002099" y="3134343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5" name="圖片 84">
            <a:hlinkClick r:id="rId15" action="ppaction://hlinksldjump"/>
            <a:extLst>
              <a:ext uri="{FF2B5EF4-FFF2-40B4-BE49-F238E27FC236}">
                <a16:creationId xmlns:a16="http://schemas.microsoft.com/office/drawing/2014/main" id="{3F45FF14-F52E-1D64-FD34-5C8C5AD7B950}"/>
              </a:ext>
            </a:extLst>
          </p:cNvPr>
          <p:cNvPicPr preferRelativeResize="0"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899" y="5004096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7" name="圖片 86">
            <a:hlinkClick r:id="rId17" action="ppaction://hlinksldjump"/>
            <a:extLst>
              <a:ext uri="{FF2B5EF4-FFF2-40B4-BE49-F238E27FC236}">
                <a16:creationId xmlns:a16="http://schemas.microsoft.com/office/drawing/2014/main" id="{3E0E52E7-64FF-B928-CA31-3B08277F4D0B}"/>
              </a:ext>
            </a:extLst>
          </p:cNvPr>
          <p:cNvPicPr preferRelativeResize="0"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7531210" y="3114096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9" name="圖片 88">
            <a:hlinkClick r:id="rId19" action="ppaction://hlinksldjump"/>
            <a:extLst>
              <a:ext uri="{FF2B5EF4-FFF2-40B4-BE49-F238E27FC236}">
                <a16:creationId xmlns:a16="http://schemas.microsoft.com/office/drawing/2014/main" id="{9989236E-ACFF-F6E9-3D06-7704B5F93867}"/>
              </a:ext>
            </a:extLst>
          </p:cNvPr>
          <p:cNvPicPr preferRelativeResize="0"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7545108" y="5004096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1" name="圖片 90">
            <a:hlinkClick r:id="rId21" action="ppaction://hlinksldjump"/>
            <a:extLst>
              <a:ext uri="{FF2B5EF4-FFF2-40B4-BE49-F238E27FC236}">
                <a16:creationId xmlns:a16="http://schemas.microsoft.com/office/drawing/2014/main" id="{C9E29171-550A-0C87-F21D-AF6E82559479}"/>
              </a:ext>
            </a:extLst>
          </p:cNvPr>
          <p:cNvPicPr preferRelativeResize="0">
            <a:picLocks/>
          </p:cNvPicPr>
          <p:nvPr/>
        </p:nvPicPr>
        <p:blipFill>
          <a:blip r:embed="rId22"/>
          <a:stretch>
            <a:fillRect/>
          </a:stretch>
        </p:blipFill>
        <p:spPr>
          <a:xfrm>
            <a:off x="29007" y="3114096"/>
            <a:ext cx="21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224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9FA560F4-46EC-B0AC-0B4B-74FE2F66B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392894"/>
            <a:ext cx="4320000" cy="16934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B33DA72-8BCA-AD62-6E8A-8329FD2BED86}"/>
              </a:ext>
            </a:extLst>
          </p:cNvPr>
          <p:cNvSpPr txBox="1"/>
          <p:nvPr/>
        </p:nvSpPr>
        <p:spPr>
          <a:xfrm>
            <a:off x="636105" y="-8490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介面基本架構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6BE69BC-55CB-CA18-94F4-7E44E0EBC612}"/>
              </a:ext>
            </a:extLst>
          </p:cNvPr>
          <p:cNvSpPr txBox="1"/>
          <p:nvPr/>
        </p:nvSpPr>
        <p:spPr>
          <a:xfrm>
            <a:off x="6096000" y="553768"/>
            <a:ext cx="407002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1.base.html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利用</a:t>
            </a:r>
            <a:r>
              <a:rPr lang="en-US" altLang="zh-TW" dirty="0"/>
              <a:t>{%load static%}</a:t>
            </a:r>
            <a:r>
              <a:rPr lang="zh-TW" altLang="en-US" dirty="0"/>
              <a:t>導入</a:t>
            </a:r>
            <a:r>
              <a:rPr lang="en-US" altLang="zh-TW" dirty="0"/>
              <a:t>bootstrap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(2)block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標題</a:t>
            </a:r>
            <a:r>
              <a:rPr lang="en-US" altLang="zh-TW" dirty="0"/>
              <a:t>title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排版</a:t>
            </a:r>
            <a:r>
              <a:rPr lang="en-US" altLang="zh-TW" dirty="0" err="1"/>
              <a:t>css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內容</a:t>
            </a:r>
            <a:r>
              <a:rPr lang="en-US" altLang="zh-TW" dirty="0"/>
              <a:t>content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導入</a:t>
            </a:r>
            <a:r>
              <a:rPr lang="en-US" altLang="zh-TW" dirty="0"/>
              <a:t>header.html</a:t>
            </a:r>
            <a:r>
              <a:rPr lang="zh-TW" altLang="en-US" dirty="0"/>
              <a:t>與</a:t>
            </a:r>
            <a:r>
              <a:rPr lang="en-US" altLang="zh-TW" dirty="0"/>
              <a:t>footer.html</a:t>
            </a:r>
          </a:p>
          <a:p>
            <a:r>
              <a:rPr lang="en-US" altLang="zh-TW" dirty="0"/>
              <a:t>2.header.html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判斷若為患者則進入</a:t>
            </a:r>
            <a:r>
              <a:rPr lang="en-US" altLang="zh-TW" dirty="0" err="1"/>
              <a:t>is_patient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判斷若為管理者則進入</a:t>
            </a:r>
            <a:r>
              <a:rPr lang="en-US" altLang="zh-TW" dirty="0" err="1"/>
              <a:t>is_manager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其他進入</a:t>
            </a:r>
            <a:r>
              <a:rPr lang="en-US" altLang="zh-TW" dirty="0"/>
              <a:t>else</a:t>
            </a:r>
          </a:p>
          <a:p>
            <a:r>
              <a:rPr lang="en-US" altLang="zh-TW" dirty="0"/>
              <a:t>3.footer.html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56C64BE-F9A1-1232-319B-E1B60DDA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324" y="2752531"/>
            <a:ext cx="3600000" cy="59523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70CB423-B4D6-22B9-7BDF-0FDB66066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012" y="4457373"/>
            <a:ext cx="4320000" cy="151913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31ABD87A-8462-7B20-BEA7-81DD1D683F82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5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488F38D-1462-0C50-5531-A8FB753E3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5" y="2116024"/>
            <a:ext cx="4320000" cy="468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8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43D06AB-3DE7-AC4F-6EDC-FF2CBDA40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53767"/>
            <a:ext cx="5400000" cy="151224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B03245-14E1-CA09-4F6E-3AE7F5480884}"/>
              </a:ext>
            </a:extLst>
          </p:cNvPr>
          <p:cNvSpPr txBox="1"/>
          <p:nvPr/>
        </p:nvSpPr>
        <p:spPr>
          <a:xfrm>
            <a:off x="636105" y="-230"/>
            <a:ext cx="12105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/>
              <a:t>HOME</a:t>
            </a:r>
            <a:endParaRPr lang="zh-TW" altLang="en-US" sz="30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50B6B88-2B17-C325-83C2-0E8B4D9B8D8A}"/>
              </a:ext>
            </a:extLst>
          </p:cNvPr>
          <p:cNvSpPr txBox="1"/>
          <p:nvPr/>
        </p:nvSpPr>
        <p:spPr>
          <a:xfrm>
            <a:off x="6155897" y="95727"/>
            <a:ext cx="5227137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抓取所有</a:t>
            </a:r>
            <a:r>
              <a:rPr lang="en-US" altLang="zh-TW" dirty="0"/>
              <a:t>Service</a:t>
            </a:r>
            <a:r>
              <a:rPr lang="zh-TW" altLang="en-US" dirty="0"/>
              <a:t>中的物件並儲存於</a:t>
            </a:r>
            <a:r>
              <a:rPr lang="en-US" altLang="zh-TW" dirty="0"/>
              <a:t>services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</a:t>
            </a:r>
            <a:r>
              <a:rPr lang="en-US" altLang="zh-TW" dirty="0"/>
              <a:t>cookie</a:t>
            </a:r>
            <a:r>
              <a:rPr lang="zh-TW" altLang="en-US" dirty="0"/>
              <a:t>是否正常運行並顯示提示資訊</a:t>
            </a:r>
            <a:endParaRPr lang="en-US" altLang="zh-TW" dirty="0"/>
          </a:p>
          <a:p>
            <a:r>
              <a:rPr lang="en-US" altLang="zh-TW" dirty="0"/>
              <a:t>2.models.py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(1)name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項目名稱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字串型態儲存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最多儲存</a:t>
            </a:r>
            <a:r>
              <a:rPr lang="en-US" altLang="zh-TW" dirty="0"/>
              <a:t>100</a:t>
            </a:r>
            <a:r>
              <a:rPr lang="zh-TW" altLang="en-US" dirty="0"/>
              <a:t>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(2)description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項目描述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文字型態儲存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(3)price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價格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整數型態儲存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預設為</a:t>
            </a:r>
            <a:r>
              <a:rPr lang="en-US" altLang="zh-TW" dirty="0"/>
              <a:t>150</a:t>
            </a:r>
          </a:p>
          <a:p>
            <a:r>
              <a:rPr lang="en-US" altLang="zh-TW" dirty="0"/>
              <a:t>3.index.html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首頁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若為病患登入則顯示立即掛號按鈕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若為管理者登入則顯示立即掛號按鈕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其餘則顯示立即登入按鈕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列出所有治療項目並且在背景顯示不同顏色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309C7497-422A-EE76-7CBF-FE10875C2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" y="2308121"/>
            <a:ext cx="5400000" cy="1594488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17DB1A53-2832-9BC4-579F-4546F8A27DDB}"/>
              </a:ext>
            </a:extLst>
          </p:cNvPr>
          <p:cNvSpPr txBox="1"/>
          <p:nvPr/>
        </p:nvSpPr>
        <p:spPr>
          <a:xfrm>
            <a:off x="11451969" y="3595202"/>
            <a:ext cx="738664" cy="369331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4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DCA671-9EB4-BDCC-471B-54B5D2D6D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4" y="4144724"/>
            <a:ext cx="5400000" cy="235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75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B1A1C4F-40C5-3216-3AB7-67E12735531F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醫師介紹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12DDD51-84AC-8F15-612B-27E3A6DB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3198635"/>
            <a:ext cx="5400000" cy="169610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403B6EE-BE68-73F3-06A3-21719468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549155"/>
            <a:ext cx="5400000" cy="131845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10B920E-8634-7055-F32F-BD20423D4E8D}"/>
              </a:ext>
            </a:extLst>
          </p:cNvPr>
          <p:cNvSpPr txBox="1"/>
          <p:nvPr/>
        </p:nvSpPr>
        <p:spPr>
          <a:xfrm>
            <a:off x="6096000" y="549155"/>
            <a:ext cx="48560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抓取所有</a:t>
            </a:r>
            <a:r>
              <a:rPr lang="en-US" altLang="zh-TW" dirty="0"/>
              <a:t>Dentist</a:t>
            </a:r>
            <a:r>
              <a:rPr lang="zh-TW" altLang="en-US" dirty="0"/>
              <a:t>中的物件並儲存於</a:t>
            </a:r>
            <a:r>
              <a:rPr lang="en-US" altLang="zh-TW" dirty="0"/>
              <a:t>dentists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利用</a:t>
            </a:r>
            <a:r>
              <a:rPr lang="en-US" altLang="zh-TW" dirty="0"/>
              <a:t>query</a:t>
            </a:r>
            <a:r>
              <a:rPr lang="zh-TW" altLang="en-US" dirty="0"/>
              <a:t>供使用者完成搜尋功能</a:t>
            </a:r>
            <a:endParaRPr lang="en-US" altLang="zh-TW" dirty="0"/>
          </a:p>
          <a:p>
            <a:r>
              <a:rPr lang="en-US" altLang="zh-TW" dirty="0"/>
              <a:t>2.models.py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(1)name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醫師名稱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字串型態儲存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最多儲存</a:t>
            </a:r>
            <a:r>
              <a:rPr lang="en-US" altLang="zh-TW" dirty="0"/>
              <a:t>100</a:t>
            </a:r>
            <a:r>
              <a:rPr lang="zh-TW" altLang="en-US" dirty="0"/>
              <a:t>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en-US" altLang="zh-TW" dirty="0" err="1"/>
              <a:t>serivces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治療項目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多對多型態儲存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對應到</a:t>
            </a:r>
            <a:r>
              <a:rPr lang="en-US" altLang="zh-TW" dirty="0"/>
              <a:t>Service</a:t>
            </a:r>
            <a:r>
              <a:rPr lang="zh-TW" altLang="en-US" dirty="0"/>
              <a:t>中的物件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(3)time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看診時間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多對多型態儲存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對應到</a:t>
            </a:r>
            <a:r>
              <a:rPr lang="en-US" altLang="zh-TW" dirty="0"/>
              <a:t>Schedule</a:t>
            </a:r>
            <a:r>
              <a:rPr lang="zh-TW" altLang="en-US" dirty="0"/>
              <a:t>中的物件</a:t>
            </a:r>
            <a:endParaRPr lang="en-US" altLang="zh-TW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AF4B278-2DE2-E80D-F89D-9AE2B4F32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2116634"/>
            <a:ext cx="5400000" cy="832979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4A78652-F692-569A-0A61-17D15D47615E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5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348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34AC-622C-1D9A-9FF9-C49525F4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C4658B9-F0B6-AFC4-FBD0-4F839AF310C4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醫師介紹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05D269A-F99E-BF23-0BC8-ED21AA3F2AD7}"/>
              </a:ext>
            </a:extLst>
          </p:cNvPr>
          <p:cNvSpPr txBox="1"/>
          <p:nvPr/>
        </p:nvSpPr>
        <p:spPr>
          <a:xfrm>
            <a:off x="6096000" y="549155"/>
            <a:ext cx="609654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1.dentist.html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醫師介紹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 err="1"/>
              <a:t>A.query</a:t>
            </a:r>
            <a:r>
              <a:rPr lang="zh-TW" altLang="en-US" dirty="0"/>
              <a:t>欄位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用於提供使用者查詢資訊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若輸入為空則顯示所有資料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若查無資料則顯示</a:t>
            </a:r>
            <a:r>
              <a:rPr lang="en-US" altLang="zh-TW" dirty="0"/>
              <a:t>“</a:t>
            </a:r>
            <a:r>
              <a:rPr lang="zh-TW" altLang="en-US" dirty="0"/>
              <a:t>目前尚無醫師資料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列出醫師資訊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若無資料則顯示</a:t>
            </a:r>
            <a:r>
              <a:rPr lang="en-US" altLang="zh-TW" dirty="0"/>
              <a:t>“</a:t>
            </a:r>
            <a:r>
              <a:rPr lang="zh-TW" altLang="en-US" dirty="0"/>
              <a:t>目前尚無醫師資料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顯示醫師名稱、專長治療項目、看診時間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專長治療項目以表格方式呈現</a:t>
            </a:r>
            <a:endParaRPr lang="en-US" altLang="zh-TW" dirty="0"/>
          </a:p>
          <a:p>
            <a:r>
              <a:rPr lang="en-US" altLang="zh-TW" dirty="0"/>
              <a:t>	a.</a:t>
            </a:r>
            <a:r>
              <a:rPr lang="zh-TW" altLang="en-US" dirty="0"/>
              <a:t>內容包含項目名稱、價格、描述</a:t>
            </a:r>
            <a:endParaRPr lang="en-US" altLang="zh-TW" dirty="0"/>
          </a:p>
          <a:p>
            <a:r>
              <a:rPr lang="en-US" altLang="zh-TW" dirty="0"/>
              <a:t>	b.</a:t>
            </a:r>
            <a:r>
              <a:rPr lang="zh-TW" altLang="en-US" dirty="0"/>
              <a:t>若無專長治療項目則顯示</a:t>
            </a:r>
            <a:r>
              <a:rPr lang="en-US" altLang="zh-TW" dirty="0"/>
              <a:t>“</a:t>
            </a:r>
            <a:r>
              <a:rPr lang="zh-TW" altLang="en-US" dirty="0"/>
              <a:t>無專長治療項目資料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　　　</a:t>
            </a:r>
            <a:r>
              <a:rPr lang="en-US" altLang="zh-TW" dirty="0"/>
              <a:t>(D)</a:t>
            </a:r>
            <a:r>
              <a:rPr lang="zh-TW" altLang="en-US" dirty="0"/>
              <a:t>若無看診時間資料則顯示</a:t>
            </a:r>
            <a:r>
              <a:rPr lang="en-US" altLang="zh-TW" dirty="0"/>
              <a:t>“</a:t>
            </a:r>
            <a:r>
              <a:rPr lang="zh-TW" altLang="en-US" dirty="0"/>
              <a:t>無排班時間</a:t>
            </a:r>
            <a:r>
              <a:rPr lang="en-US" altLang="zh-TW" dirty="0"/>
              <a:t>”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E487FE8-771B-0E45-E464-DD026123D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9155"/>
            <a:ext cx="5400000" cy="622085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C4E677A-8EDA-E288-4493-DB4B23917077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08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C946-1436-B17B-4C7A-8361F1D4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259EB61-CDD3-28B0-900A-18CD957A48B9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治療項目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33D281C-E700-33A9-120B-8B222AB76E4E}"/>
              </a:ext>
            </a:extLst>
          </p:cNvPr>
          <p:cNvSpPr txBox="1"/>
          <p:nvPr/>
        </p:nvSpPr>
        <p:spPr>
          <a:xfrm>
            <a:off x="6096000" y="549155"/>
            <a:ext cx="54890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讀取</a:t>
            </a:r>
            <a:r>
              <a:rPr lang="en-US" altLang="zh-TW" dirty="0"/>
              <a:t>Service</a:t>
            </a:r>
            <a:r>
              <a:rPr lang="zh-TW" altLang="en-US" dirty="0"/>
              <a:t>中的所有物件</a:t>
            </a:r>
            <a:endParaRPr lang="en-US" altLang="zh-TW" dirty="0"/>
          </a:p>
          <a:p>
            <a:r>
              <a:rPr lang="en-US" altLang="zh-TW" dirty="0"/>
              <a:t>2.services.html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治療項目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列出所有</a:t>
            </a:r>
            <a:r>
              <a:rPr lang="en-US" altLang="zh-TW" dirty="0"/>
              <a:t>services</a:t>
            </a:r>
            <a:r>
              <a:rPr lang="zh-TW" altLang="en-US" dirty="0"/>
              <a:t>中的資料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利用</a:t>
            </a:r>
            <a:r>
              <a:rPr lang="en-US" altLang="zh-TW" dirty="0"/>
              <a:t>service-card</a:t>
            </a:r>
            <a:r>
              <a:rPr lang="zh-TW" altLang="en-US" dirty="0"/>
              <a:t>形式呈現視覺效果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en-US" altLang="zh-TW" dirty="0" err="1"/>
              <a:t>service.description</a:t>
            </a:r>
            <a:r>
              <a:rPr lang="zh-TW" altLang="en-US" dirty="0"/>
              <a:t>會根據輸入內容自動換行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若無治療項目則顯示</a:t>
            </a:r>
            <a:r>
              <a:rPr lang="en-US" altLang="zh-TW" dirty="0"/>
              <a:t>“</a:t>
            </a:r>
            <a:r>
              <a:rPr lang="zh-TW" altLang="en-US" dirty="0"/>
              <a:t>目前無治療項目資料</a:t>
            </a:r>
            <a:r>
              <a:rPr lang="en-US" altLang="zh-TW" dirty="0"/>
              <a:t>”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389B63-12DD-AE38-4575-90B0B519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66870"/>
            <a:ext cx="5400000" cy="6200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C72873B-A115-F5A9-04D6-837217B9D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3262885"/>
            <a:ext cx="5400000" cy="152307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4BCD83B-1927-6D69-CE5C-BCA08747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1379231"/>
            <a:ext cx="5400000" cy="153087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D2FF6FBB-9B8B-39AA-14B0-74E9DCFDB172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5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685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5BD2-096D-A4A4-F875-FAA9C09D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C8621FD-E263-5A41-A1B2-B7D9648E8AFD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聯絡我們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98FFCAF-AAB9-4C74-9C8C-5EF3347307A6}"/>
              </a:ext>
            </a:extLst>
          </p:cNvPr>
          <p:cNvSpPr txBox="1"/>
          <p:nvPr/>
        </p:nvSpPr>
        <p:spPr>
          <a:xfrm>
            <a:off x="6096000" y="549155"/>
            <a:ext cx="482856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讀取介面輸入的所有資料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分別儲存為</a:t>
            </a:r>
            <a:r>
              <a:rPr lang="en-US" altLang="zh-TW" dirty="0"/>
              <a:t>name</a:t>
            </a:r>
            <a:r>
              <a:rPr lang="zh-TW" altLang="en-US" dirty="0"/>
              <a:t>、</a:t>
            </a:r>
            <a:r>
              <a:rPr lang="en-US" altLang="zh-TW" dirty="0"/>
              <a:t>email</a:t>
            </a:r>
            <a:r>
              <a:rPr lang="zh-TW" altLang="en-US" dirty="0"/>
              <a:t>、</a:t>
            </a:r>
            <a:r>
              <a:rPr lang="en-US" altLang="zh-TW" dirty="0"/>
              <a:t>message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若使用者名稱不符合條件則顯示錯誤訊息</a:t>
            </a:r>
            <a:endParaRPr lang="en-US" altLang="zh-TW" dirty="0"/>
          </a:p>
          <a:p>
            <a:r>
              <a:rPr lang="en-US" altLang="zh-TW" dirty="0"/>
              <a:t>2.models.py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(1)name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姓名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字串型態儲存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最多儲存</a:t>
            </a:r>
            <a:r>
              <a:rPr lang="en-US" altLang="zh-TW" dirty="0"/>
              <a:t>50</a:t>
            </a:r>
            <a:r>
              <a:rPr lang="zh-TW" altLang="en-US" dirty="0"/>
              <a:t>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(2)email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電子郵件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郵件型態儲存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(3)message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訊息內容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文字型態儲存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created_at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送出時間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時間型態儲存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自動儲存輸入時間，使用者不需輸入</a:t>
            </a:r>
            <a:endParaRPr lang="en-US" altLang="zh-TW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C17438A-4ACB-A7DD-4206-D5A976F04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622140"/>
            <a:ext cx="5400000" cy="146535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093EC9D-7E07-7C88-25D9-71CFE07B8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2339353"/>
            <a:ext cx="5400000" cy="140616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3676DECD-6B86-7340-229E-ABE1B03C7474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4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10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DD264D3-ACB5-471C-ECB2-7F04FF257B16}"/>
              </a:ext>
            </a:extLst>
          </p:cNvPr>
          <p:cNvSpPr txBox="1"/>
          <p:nvPr/>
        </p:nvSpPr>
        <p:spPr>
          <a:xfrm>
            <a:off x="6155897" y="55376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1.contact.html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聯絡我們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列出所有</a:t>
            </a:r>
            <a:r>
              <a:rPr lang="en-US" altLang="zh-TW" dirty="0"/>
              <a:t>services</a:t>
            </a:r>
            <a:r>
              <a:rPr lang="zh-TW" altLang="en-US" dirty="0"/>
              <a:t>中的資料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利用</a:t>
            </a:r>
            <a:r>
              <a:rPr lang="en-US" altLang="zh-TW" dirty="0"/>
              <a:t>service-card</a:t>
            </a:r>
            <a:r>
              <a:rPr lang="zh-TW" altLang="en-US" dirty="0"/>
              <a:t>形式呈現視覺效果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en-US" altLang="zh-TW" dirty="0" err="1"/>
              <a:t>service.description</a:t>
            </a:r>
            <a:r>
              <a:rPr lang="zh-TW" altLang="en-US" dirty="0"/>
              <a:t>會根據輸入內容自動換行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若無治療項目則顯示</a:t>
            </a:r>
            <a:r>
              <a:rPr lang="en-US" altLang="zh-TW" dirty="0"/>
              <a:t>“</a:t>
            </a:r>
            <a:r>
              <a:rPr lang="zh-TW" altLang="en-US" dirty="0"/>
              <a:t>目前無治療項目資料</a:t>
            </a:r>
            <a:r>
              <a:rPr lang="en-US" altLang="zh-TW" dirty="0"/>
              <a:t>”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B2616F-E9F5-0196-ECB9-163F740BE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53768"/>
            <a:ext cx="5400000" cy="194937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C704FA-D546-B80D-1422-A62E98271495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聯絡我們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F390E0-1B70-38F9-B51F-D14FD727CE78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115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D2DC-1D0A-4850-EA01-E43ED8E6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2FAB90ED-9F98-E4E1-5E65-50EF461EB891}"/>
              </a:ext>
            </a:extLst>
          </p:cNvPr>
          <p:cNvSpPr txBox="1"/>
          <p:nvPr/>
        </p:nvSpPr>
        <p:spPr>
          <a:xfrm>
            <a:off x="0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69B94B9-9123-1556-1F5D-5553CB8E6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4446959"/>
            <a:ext cx="5400000" cy="1503146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E60D7872-1E13-1FF9-D04B-FD9CC9CF656A}"/>
              </a:ext>
            </a:extLst>
          </p:cNvPr>
          <p:cNvGrpSpPr/>
          <p:nvPr/>
        </p:nvGrpSpPr>
        <p:grpSpPr>
          <a:xfrm>
            <a:off x="6428540" y="234434"/>
            <a:ext cx="6483901" cy="6706314"/>
            <a:chOff x="6428540" y="276769"/>
            <a:chExt cx="6483901" cy="670631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4DB185A-BB9B-6BF5-00B1-6B31525819DF}"/>
                </a:ext>
              </a:extLst>
            </p:cNvPr>
            <p:cNvSpPr txBox="1"/>
            <p:nvPr/>
          </p:nvSpPr>
          <p:spPr>
            <a:xfrm>
              <a:off x="6428540" y="276769"/>
              <a:ext cx="4324709" cy="6463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1.views.py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(1)</a:t>
              </a:r>
              <a:r>
                <a:rPr lang="zh-TW" altLang="en-US" dirty="0"/>
                <a:t>判斷讀取到的方法是否為</a:t>
              </a:r>
              <a:r>
                <a:rPr lang="en-US" altLang="zh-TW" dirty="0"/>
                <a:t>POST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(2)</a:t>
              </a:r>
              <a:r>
                <a:rPr lang="zh-TW" altLang="en-US" dirty="0"/>
                <a:t>將使用者輸入資料填入</a:t>
              </a:r>
              <a:r>
                <a:rPr lang="en-US" altLang="zh-TW" dirty="0" err="1"/>
                <a:t>login_form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(3)user</a:t>
              </a:r>
              <a:r>
                <a:rPr lang="zh-TW" altLang="en-US" dirty="0"/>
                <a:t>為</a:t>
              </a:r>
              <a:r>
                <a:rPr lang="en-US" altLang="zh-TW" dirty="0"/>
                <a:t>Info</a:t>
              </a:r>
              <a:r>
                <a:rPr lang="zh-TW" altLang="en-US" dirty="0"/>
                <a:t>中名稱為</a:t>
              </a:r>
              <a:r>
                <a:rPr lang="en-US" altLang="zh-TW" dirty="0" err="1"/>
                <a:t>user_name</a:t>
              </a:r>
              <a:r>
                <a:rPr lang="zh-TW" altLang="en-US" dirty="0"/>
                <a:t>的物件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(4)</a:t>
              </a:r>
              <a:r>
                <a:rPr lang="zh-TW" altLang="en-US" dirty="0"/>
                <a:t>確定身分後判斷使用者是否為管理者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(5)</a:t>
              </a:r>
              <a:r>
                <a:rPr lang="zh-TW" altLang="en-US" dirty="0"/>
                <a:t>若輸入錯誤則顯示相對應錯誤訊息</a:t>
              </a:r>
              <a:endParaRPr lang="en-US" altLang="zh-TW" dirty="0"/>
            </a:p>
            <a:p>
              <a:r>
                <a:rPr lang="en-US" altLang="zh-TW" dirty="0"/>
                <a:t>2.models.py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(1)</a:t>
              </a:r>
              <a:r>
                <a:rPr lang="en-US" altLang="zh-TW" dirty="0" err="1"/>
                <a:t>user_name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姓名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20</a:t>
              </a:r>
              <a:r>
                <a:rPr lang="zh-TW" altLang="en-US" dirty="0"/>
                <a:t>字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(2)</a:t>
              </a:r>
              <a:r>
                <a:rPr lang="en-US" altLang="zh-TW" dirty="0" err="1"/>
                <a:t>user_ID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身分證字號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10</a:t>
              </a:r>
              <a:r>
                <a:rPr lang="zh-TW" altLang="en-US" dirty="0"/>
                <a:t>字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(3)</a:t>
              </a:r>
              <a:r>
                <a:rPr lang="en-US" altLang="zh-TW" dirty="0" err="1"/>
                <a:t>user_secret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密碼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20</a:t>
              </a:r>
              <a:r>
                <a:rPr lang="zh-TW" altLang="en-US" dirty="0"/>
                <a:t>字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(4)</a:t>
              </a:r>
              <a:r>
                <a:rPr lang="en-US" altLang="zh-TW" dirty="0" err="1"/>
                <a:t>user_address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地址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50</a:t>
              </a:r>
              <a:r>
                <a:rPr lang="zh-TW" altLang="en-US" dirty="0"/>
                <a:t>字</a:t>
              </a:r>
              <a:endParaRPr lang="en-US" altLang="zh-TW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60A9532B-2ED6-4F07-F526-AC0FDAA18BCD}"/>
                </a:ext>
              </a:extLst>
            </p:cNvPr>
            <p:cNvSpPr txBox="1"/>
            <p:nvPr/>
          </p:nvSpPr>
          <p:spPr>
            <a:xfrm>
              <a:off x="8594057" y="2181769"/>
              <a:ext cx="4318384" cy="48013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　</a:t>
              </a:r>
              <a:r>
                <a:rPr lang="en-US" altLang="zh-TW" dirty="0"/>
                <a:t>(5)</a:t>
              </a:r>
              <a:r>
                <a:rPr lang="en-US" altLang="zh-TW" dirty="0" err="1"/>
                <a:t>user_tel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電話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15</a:t>
              </a:r>
              <a:r>
                <a:rPr lang="zh-TW" altLang="en-US" dirty="0"/>
                <a:t>字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(6)</a:t>
              </a:r>
              <a:r>
                <a:rPr lang="en-US" altLang="zh-TW" dirty="0" err="1"/>
                <a:t>user_birth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生日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日期型態儲存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(7)</a:t>
              </a:r>
              <a:r>
                <a:rPr lang="en-US" altLang="zh-TW" dirty="0" err="1"/>
                <a:t>can_manage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管理者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布林型態儲存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預設為</a:t>
              </a:r>
              <a:r>
                <a:rPr lang="en-US" altLang="zh-TW" dirty="0"/>
                <a:t>False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(8)</a:t>
              </a:r>
              <a:r>
                <a:rPr lang="en-US" altLang="zh-TW" dirty="0" err="1"/>
                <a:t>user_identity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身分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15</a:t>
              </a:r>
              <a:r>
                <a:rPr lang="zh-TW" altLang="en-US" dirty="0"/>
                <a:t>字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D.</a:t>
              </a:r>
              <a:r>
                <a:rPr lang="zh-TW" altLang="en-US" dirty="0"/>
                <a:t>選擇一般身分、退伍軍人、</a:t>
              </a:r>
              <a:endParaRPr lang="en-US" altLang="zh-TW" dirty="0"/>
            </a:p>
            <a:p>
              <a:r>
                <a:rPr lang="zh-TW" altLang="en-US" dirty="0"/>
                <a:t>　　　領有殘障手冊</a:t>
              </a:r>
              <a:endParaRPr lang="en-US" altLang="zh-TW" dirty="0"/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8B728D9-3F39-3D4D-9978-467DAE52F6D4}"/>
              </a:ext>
            </a:extLst>
          </p:cNvPr>
          <p:cNvSpPr txBox="1"/>
          <p:nvPr/>
        </p:nvSpPr>
        <p:spPr>
          <a:xfrm>
            <a:off x="636105" y="-230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登入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4906E3B-3CEE-C1A5-3381-854EF695F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53768"/>
            <a:ext cx="5400000" cy="375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60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hlinkClick r:id="rId2" action="ppaction://hlinksldjump"/>
            <a:extLst>
              <a:ext uri="{FF2B5EF4-FFF2-40B4-BE49-F238E27FC236}">
                <a16:creationId xmlns:a16="http://schemas.microsoft.com/office/drawing/2014/main" id="{A12743F7-5553-4679-9A31-22288E77D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1350291"/>
            <a:ext cx="5400000" cy="26736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1B80B98-00C5-B6D0-6E54-56CE5A859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95203"/>
            <a:ext cx="5400000" cy="4851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D291505-E2EC-A0E8-E149-CDDB53D8A66B}"/>
              </a:ext>
            </a:extLst>
          </p:cNvPr>
          <p:cNvSpPr txBox="1"/>
          <p:nvPr/>
        </p:nvSpPr>
        <p:spPr>
          <a:xfrm>
            <a:off x="636105" y="-230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登入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0CBBC1-CC2D-2F75-0F6A-CFF721DA98E7}"/>
              </a:ext>
            </a:extLst>
          </p:cNvPr>
          <p:cNvSpPr txBox="1"/>
          <p:nvPr/>
        </p:nvSpPr>
        <p:spPr>
          <a:xfrm>
            <a:off x="6096000" y="549155"/>
            <a:ext cx="582480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姓名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密碼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產生驗證碼以證明不是機器人</a:t>
            </a:r>
            <a:endParaRPr lang="en-US" altLang="zh-TW" dirty="0"/>
          </a:p>
          <a:p>
            <a:r>
              <a:rPr lang="en-US" altLang="zh-TW" dirty="0"/>
              <a:t>2.login.html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抓取</a:t>
            </a:r>
            <a:r>
              <a:rPr lang="en-US" altLang="zh-TW" dirty="0" err="1"/>
              <a:t>login_form</a:t>
            </a:r>
            <a:r>
              <a:rPr lang="zh-TW" altLang="en-US" dirty="0"/>
              <a:t>已顯示表格資料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若使用者忘記密碼則點選</a:t>
            </a:r>
            <a:r>
              <a:rPr lang="en-US" altLang="zh-TW" dirty="0"/>
              <a:t>“</a:t>
            </a:r>
            <a:r>
              <a:rPr lang="zh-TW" altLang="en-US" dirty="0"/>
              <a:t>忘記密碼</a:t>
            </a:r>
            <a:r>
              <a:rPr lang="en-US" altLang="zh-TW" dirty="0"/>
              <a:t>?”</a:t>
            </a:r>
            <a:r>
              <a:rPr lang="zh-TW" altLang="en-US" dirty="0"/>
              <a:t>進入下一介面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47AFE1-699C-1375-5072-6A05393B1009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5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5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26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3715452-145B-3082-DD40-9779D8D0A16D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忘記密碼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351F55-5512-CECE-EFB6-0BE521097F87}"/>
              </a:ext>
            </a:extLst>
          </p:cNvPr>
          <p:cNvSpPr txBox="1"/>
          <p:nvPr/>
        </p:nvSpPr>
        <p:spPr>
          <a:xfrm>
            <a:off x="6096000" y="549155"/>
            <a:ext cx="470853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將使用者輸入資料填入</a:t>
            </a:r>
            <a:r>
              <a:rPr lang="en-US" altLang="zh-TW" dirty="0" err="1"/>
              <a:t>password_form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(3)user</a:t>
            </a:r>
            <a:r>
              <a:rPr lang="zh-TW" altLang="en-US" dirty="0"/>
              <a:t>為</a:t>
            </a:r>
            <a:r>
              <a:rPr lang="en-US" altLang="zh-TW" dirty="0"/>
              <a:t>Info</a:t>
            </a:r>
            <a:r>
              <a:rPr lang="zh-TW" altLang="en-US" dirty="0"/>
              <a:t>中身分證字號為</a:t>
            </a:r>
            <a:r>
              <a:rPr lang="en-US" altLang="zh-TW" dirty="0" err="1"/>
              <a:t>user_ID</a:t>
            </a:r>
            <a:r>
              <a:rPr lang="zh-TW" altLang="en-US" dirty="0"/>
              <a:t>的物件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若輸入正確則顯示密碼並回到登入介面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身分證字號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產生驗證碼以證明不是機器人</a:t>
            </a:r>
            <a:endParaRPr lang="en-US" altLang="zh-TW" dirty="0"/>
          </a:p>
          <a:p>
            <a:r>
              <a:rPr lang="en-US" altLang="zh-TW" dirty="0"/>
              <a:t>3.password_recovery.html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抓取</a:t>
            </a:r>
            <a:r>
              <a:rPr lang="en-US" altLang="zh-TW" dirty="0" err="1"/>
              <a:t>password_form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803ED79-C39A-95B0-6327-98B570D4F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2464364"/>
            <a:ext cx="5400000" cy="169442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8333417-44AE-B7B7-3EEA-8D4ED648F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4241020"/>
            <a:ext cx="5400000" cy="2517943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22E9F8-004E-69AC-5990-9BB47067F1E1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4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1432BF-1FDD-609B-EAB3-C3FDFBB33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5" y="473979"/>
            <a:ext cx="5400000" cy="192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56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8351-A6C2-610F-F61F-2E60FA8D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EC4D4CF-B2E7-0AE8-0584-CA423E01BE23}"/>
              </a:ext>
            </a:extLst>
          </p:cNvPr>
          <p:cNvSpPr txBox="1"/>
          <p:nvPr/>
        </p:nvSpPr>
        <p:spPr>
          <a:xfrm>
            <a:off x="636105" y="-84900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註冊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655E14-6EEF-AFDA-6943-C0087B5CA1A8}"/>
              </a:ext>
            </a:extLst>
          </p:cNvPr>
          <p:cNvSpPr txBox="1"/>
          <p:nvPr/>
        </p:nvSpPr>
        <p:spPr>
          <a:xfrm>
            <a:off x="6096000" y="549155"/>
            <a:ext cx="530626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將使用者輸入資料填入</a:t>
            </a:r>
            <a:r>
              <a:rPr lang="en-US" altLang="zh-TW" dirty="0" err="1"/>
              <a:t>logon_form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姓名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身分證字號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密碼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輸入類別設為</a:t>
            </a:r>
            <a:r>
              <a:rPr lang="en-US" altLang="zh-TW" dirty="0" err="1"/>
              <a:t>PasswordInput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住址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E.</a:t>
            </a:r>
            <a:r>
              <a:rPr lang="zh-TW" altLang="en-US" dirty="0"/>
              <a:t>電話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F.</a:t>
            </a:r>
            <a:r>
              <a:rPr lang="zh-TW" altLang="en-US" dirty="0"/>
              <a:t>生日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輸入類別設為</a:t>
            </a:r>
            <a:r>
              <a:rPr lang="en-US" altLang="zh-TW" dirty="0" err="1"/>
              <a:t>DateInput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G.</a:t>
            </a:r>
            <a:r>
              <a:rPr lang="zh-TW" altLang="en-US" dirty="0"/>
              <a:t>身分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選擇一般身分、退伍軍人、領有殘障手冊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H.</a:t>
            </a:r>
            <a:r>
              <a:rPr lang="zh-TW" altLang="en-US" dirty="0"/>
              <a:t>產生驗證碼以證明不是機器人</a:t>
            </a:r>
            <a:endParaRPr lang="en-US" altLang="zh-TW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A5494F8-0FE0-CDD7-8605-0B4EF8EAE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007916"/>
            <a:ext cx="5040000" cy="170458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9B79FB1F-4AB8-EDF1-07CE-C5B015529FA4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F3BDE0-5A3C-8B4B-06B5-80D75787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469098"/>
            <a:ext cx="5040000" cy="442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09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73BF-697D-F8BC-ED7B-E1880048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350C4CC-6B93-DED0-C79C-F8C8A8892ECC}"/>
              </a:ext>
            </a:extLst>
          </p:cNvPr>
          <p:cNvSpPr txBox="1"/>
          <p:nvPr/>
        </p:nvSpPr>
        <p:spPr>
          <a:xfrm>
            <a:off x="636105" y="-230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註冊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9425013-BA55-66CF-D241-A196798081EE}"/>
              </a:ext>
            </a:extLst>
          </p:cNvPr>
          <p:cNvSpPr txBox="1"/>
          <p:nvPr/>
        </p:nvSpPr>
        <p:spPr>
          <a:xfrm>
            <a:off x="6096000" y="549155"/>
            <a:ext cx="42129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1.logon.html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抓取</a:t>
            </a:r>
            <a:r>
              <a:rPr lang="en-US" altLang="zh-TW" dirty="0" err="1"/>
              <a:t>logon_form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1A6FE6-0136-98FD-B1EB-9A2C271E9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9155"/>
            <a:ext cx="5400000" cy="228027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E07EE6A-05FC-7073-3EBD-3A9FB1B884BA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217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61A71-27FF-27A9-A3D0-0C8DD592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C3536B1-6A92-FCE5-F0E1-353572A69C43}"/>
              </a:ext>
            </a:extLst>
          </p:cNvPr>
          <p:cNvSpPr txBox="1"/>
          <p:nvPr/>
        </p:nvSpPr>
        <p:spPr>
          <a:xfrm>
            <a:off x="636105" y="-67966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掛號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C57B78-E022-A125-2ABF-2FD768E4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641309"/>
            <a:ext cx="5400000" cy="893525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01117D44-F2CB-9801-3003-0E4236CFE1CF}"/>
              </a:ext>
            </a:extLst>
          </p:cNvPr>
          <p:cNvGrpSpPr/>
          <p:nvPr/>
        </p:nvGrpSpPr>
        <p:grpSpPr>
          <a:xfrm>
            <a:off x="6096000" y="549155"/>
            <a:ext cx="8422217" cy="4247317"/>
            <a:chOff x="6096000" y="549155"/>
            <a:chExt cx="8422217" cy="4247317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B2BCE54C-437C-0A32-122B-765E2B427863}"/>
                </a:ext>
              </a:extLst>
            </p:cNvPr>
            <p:cNvSpPr txBox="1"/>
            <p:nvPr/>
          </p:nvSpPr>
          <p:spPr>
            <a:xfrm>
              <a:off x="6096000" y="549155"/>
              <a:ext cx="6273320" cy="4247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1.views.py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(1)</a:t>
              </a:r>
              <a:r>
                <a:rPr lang="zh-TW" altLang="en-US" dirty="0"/>
                <a:t>若未登入或非患者無法進入該介面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(2)</a:t>
              </a:r>
              <a:r>
                <a:rPr lang="zh-TW" altLang="en-US" dirty="0"/>
                <a:t>判斷讀取到的方法是否為</a:t>
              </a:r>
              <a:r>
                <a:rPr lang="en-US" altLang="zh-TW" dirty="0"/>
                <a:t>POST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(3)</a:t>
              </a:r>
              <a:r>
                <a:rPr lang="zh-TW" altLang="en-US" dirty="0"/>
                <a:t>將使用者輸入資料填入</a:t>
              </a:r>
              <a:r>
                <a:rPr lang="en-US" altLang="zh-TW" dirty="0" err="1"/>
                <a:t>register_form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(4)</a:t>
              </a:r>
              <a:r>
                <a:rPr lang="en-US" altLang="zh-TW" dirty="0" err="1"/>
                <a:t>register_form</a:t>
              </a:r>
              <a:r>
                <a:rPr lang="zh-TW" altLang="en-US" dirty="0"/>
                <a:t>中的</a:t>
              </a:r>
              <a:r>
                <a:rPr lang="en-US" altLang="zh-TW" dirty="0" err="1"/>
                <a:t>patient_name</a:t>
              </a:r>
              <a:r>
                <a:rPr lang="zh-TW" altLang="en-US" dirty="0"/>
                <a:t>會自動填入目前患者名字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(5)</a:t>
              </a:r>
              <a:r>
                <a:rPr lang="zh-TW" altLang="en-US" dirty="0"/>
                <a:t>若輸入錯誤則顯示相對應錯誤訊息</a:t>
              </a:r>
              <a:endParaRPr lang="en-US" altLang="zh-TW" dirty="0"/>
            </a:p>
            <a:p>
              <a:r>
                <a:rPr lang="en-US" altLang="zh-TW" dirty="0"/>
                <a:t>2. models.py</a:t>
              </a:r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 (1)</a:t>
              </a:r>
              <a:r>
                <a:rPr lang="en-US" altLang="zh-TW" dirty="0" err="1"/>
                <a:t>patient_name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姓名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字串型態儲存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最多儲存</a:t>
              </a:r>
              <a:r>
                <a:rPr lang="en-US" altLang="zh-TW" dirty="0"/>
                <a:t>20</a:t>
              </a:r>
              <a:r>
                <a:rPr lang="zh-TW" altLang="en-US" dirty="0"/>
                <a:t>字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(2)dentist</a:t>
              </a:r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醫師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外來鍵型態儲存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選取</a:t>
              </a:r>
              <a:r>
                <a:rPr lang="en-US" altLang="zh-TW" dirty="0"/>
                <a:t>Dentist</a:t>
              </a:r>
              <a:r>
                <a:rPr lang="zh-TW" altLang="en-US" dirty="0"/>
                <a:t>中物件</a:t>
              </a:r>
              <a:endParaRPr lang="en-US" altLang="zh-TW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D35E0C8-361D-5247-7BD9-F40EEAA040A0}"/>
                </a:ext>
              </a:extLst>
            </p:cNvPr>
            <p:cNvSpPr txBox="1"/>
            <p:nvPr/>
          </p:nvSpPr>
          <p:spPr>
            <a:xfrm>
              <a:off x="8333317" y="2444171"/>
              <a:ext cx="618490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　</a:t>
              </a:r>
              <a:r>
                <a:rPr lang="en-US" altLang="zh-TW" dirty="0"/>
                <a:t>(3)service</a:t>
              </a:r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治療項目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外來鍵型態儲存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C.</a:t>
              </a:r>
              <a:r>
                <a:rPr lang="zh-TW" altLang="en-US" dirty="0"/>
                <a:t>選取</a:t>
              </a:r>
              <a:r>
                <a:rPr lang="en-US" altLang="zh-TW" dirty="0"/>
                <a:t>Service</a:t>
              </a:r>
              <a:r>
                <a:rPr lang="zh-TW" altLang="en-US" dirty="0"/>
                <a:t>中物件</a:t>
              </a:r>
              <a:endParaRPr lang="en-US" altLang="zh-TW" dirty="0"/>
            </a:p>
            <a:p>
              <a:r>
                <a:rPr lang="zh-TW" altLang="en-US" dirty="0"/>
                <a:t>　</a:t>
              </a:r>
              <a:r>
                <a:rPr lang="en-US" altLang="zh-TW" dirty="0"/>
                <a:t>(4)</a:t>
              </a:r>
              <a:r>
                <a:rPr lang="en-US" altLang="zh-TW" dirty="0" err="1"/>
                <a:t>appointment_date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A.</a:t>
              </a:r>
              <a:r>
                <a:rPr lang="zh-TW" altLang="en-US" dirty="0"/>
                <a:t>預約時間</a:t>
              </a:r>
              <a:endParaRPr lang="en-US" altLang="zh-TW" dirty="0"/>
            </a:p>
            <a:p>
              <a:r>
                <a:rPr lang="zh-TW" altLang="en-US" dirty="0"/>
                <a:t>　　</a:t>
              </a:r>
              <a:r>
                <a:rPr lang="en-US" altLang="zh-TW" dirty="0"/>
                <a:t>B.</a:t>
              </a:r>
              <a:r>
                <a:rPr lang="zh-TW" altLang="en-US" dirty="0"/>
                <a:t>日期型態儲存</a:t>
              </a:r>
              <a:endParaRPr lang="en-US" altLang="zh-TW" dirty="0"/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8C942D4-58BC-DEE1-0E80-403FA924C2B2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F4389C9-C36E-C9E0-516F-3287CFB6A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49155"/>
            <a:ext cx="5400000" cy="47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9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B930-2E5C-7E14-3B94-C5A5452E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6C75E8-75D1-B5EE-28E9-398AC0377C2C}"/>
              </a:ext>
            </a:extLst>
          </p:cNvPr>
          <p:cNvSpPr txBox="1"/>
          <p:nvPr/>
        </p:nvSpPr>
        <p:spPr>
          <a:xfrm>
            <a:off x="636105" y="-230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掛號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91B33A3-BD98-57F7-C7D3-9126DA05CFD1}"/>
              </a:ext>
            </a:extLst>
          </p:cNvPr>
          <p:cNvSpPr txBox="1"/>
          <p:nvPr/>
        </p:nvSpPr>
        <p:spPr>
          <a:xfrm>
            <a:off x="6096000" y="549155"/>
            <a:ext cx="41360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名字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醫師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治療項目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預約時間</a:t>
            </a:r>
            <a:endParaRPr lang="en-US" altLang="zh-TW" dirty="0"/>
          </a:p>
          <a:p>
            <a:r>
              <a:rPr lang="en-US" altLang="zh-TW" dirty="0"/>
              <a:t>2.register.html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抓取</a:t>
            </a:r>
            <a:r>
              <a:rPr lang="en-US" altLang="zh-TW" dirty="0" err="1"/>
              <a:t>register_form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CFA8E39-A67E-C580-53A8-723ECA77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1856390"/>
            <a:ext cx="5400000" cy="217051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46FB8FD-9D2E-C19E-6BEF-078CC612B34E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96D345E-ACF7-8127-3DFB-922E80196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49155"/>
            <a:ext cx="5400000" cy="9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2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B2F1-3757-1948-3ED9-9477B212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31258D2-3BDB-536E-4BD9-81DA50A6D550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查詢掛號紀錄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2100BC-80E4-3D73-26D4-D3EAFEF5B16F}"/>
              </a:ext>
            </a:extLst>
          </p:cNvPr>
          <p:cNvSpPr txBox="1"/>
          <p:nvPr/>
        </p:nvSpPr>
        <p:spPr>
          <a:xfrm>
            <a:off x="6096000" y="549155"/>
            <a:ext cx="41360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若未登入或非患者無法進入該介面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利用</a:t>
            </a:r>
            <a:r>
              <a:rPr lang="en-US" altLang="zh-TW" dirty="0"/>
              <a:t>query</a:t>
            </a:r>
            <a:r>
              <a:rPr lang="zh-TW" altLang="en-US" dirty="0"/>
              <a:t>供使用者完成搜尋功能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EAE5A8-54D2-D0CA-32C4-FEF89203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53550"/>
            <a:ext cx="5400000" cy="280653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3F15E0A-775D-6714-7666-0C09BD0D8371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753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6B90-E56B-B0D5-B0ED-CD9C68F7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9531BC6-148C-6BAC-9D94-6D2630424FBF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查詢掛號紀錄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17B771-5DC0-2572-754B-5EF892DD94F3}"/>
              </a:ext>
            </a:extLst>
          </p:cNvPr>
          <p:cNvSpPr txBox="1"/>
          <p:nvPr/>
        </p:nvSpPr>
        <p:spPr>
          <a:xfrm>
            <a:off x="6096000" y="549155"/>
            <a:ext cx="502733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1.search.html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掛號記錄查詢</a:t>
            </a:r>
            <a:r>
              <a:rPr lang="en-US" altLang="zh-TW" dirty="0"/>
              <a:t> 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 err="1"/>
              <a:t>A.query</a:t>
            </a:r>
            <a:r>
              <a:rPr lang="zh-TW" altLang="en-US" dirty="0"/>
              <a:t>欄位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用於提供使用者查詢資訊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若輸入為空則顯示所有資料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若查無資料則顯示</a:t>
            </a:r>
            <a:r>
              <a:rPr lang="en-US" altLang="zh-TW" dirty="0"/>
              <a:t>“</a:t>
            </a:r>
            <a:r>
              <a:rPr lang="zh-TW" altLang="en-US" dirty="0"/>
              <a:t>目前沒有掛號紀錄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若預約日期早於今天日期則顯示</a:t>
            </a:r>
            <a:r>
              <a:rPr lang="en-US" altLang="zh-TW" dirty="0"/>
              <a:t>”</a:t>
            </a:r>
            <a:r>
              <a:rPr lang="zh-TW" altLang="en-US" dirty="0"/>
              <a:t>已看診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否則顯示</a:t>
            </a:r>
            <a:r>
              <a:rPr lang="en-US" altLang="zh-TW" dirty="0"/>
              <a:t>”</a:t>
            </a:r>
            <a:r>
              <a:rPr lang="zh-TW" altLang="en-US" dirty="0"/>
              <a:t>待看診</a:t>
            </a:r>
            <a:r>
              <a:rPr lang="en-US" altLang="zh-TW" dirty="0"/>
              <a:t>”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163D073-A5BC-7A38-C52A-2C10EBB3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9155"/>
            <a:ext cx="5400000" cy="4680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13B77E1-03D9-2484-58DD-BDB9A106FD33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68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6C93-D47D-0E23-B9F1-D065C2E2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F107AD4-6A10-AAC9-7424-A33BAA3189EA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查看個人資料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5BC0C87-71CE-887F-B03E-4CB4F3248BC3}"/>
              </a:ext>
            </a:extLst>
          </p:cNvPr>
          <p:cNvSpPr txBox="1"/>
          <p:nvPr/>
        </p:nvSpPr>
        <p:spPr>
          <a:xfrm>
            <a:off x="6096000" y="549155"/>
            <a:ext cx="530626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若未登入或非患者無法進入該介面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將使用者輸入資料填入</a:t>
            </a:r>
            <a:r>
              <a:rPr lang="en-US" altLang="zh-TW" dirty="0" err="1"/>
              <a:t>info_form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info_form</a:t>
            </a:r>
            <a:r>
              <a:rPr lang="zh-TW" altLang="en-US" dirty="0"/>
              <a:t>會預設填入患者的資料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名字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身分證字號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設計為不可更改欄位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密碼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住址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E.</a:t>
            </a:r>
            <a:r>
              <a:rPr lang="zh-TW" altLang="en-US" dirty="0"/>
              <a:t>電話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F.</a:t>
            </a:r>
            <a:r>
              <a:rPr lang="zh-TW" altLang="en-US" dirty="0"/>
              <a:t>生日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設計為不可更改欄位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G.</a:t>
            </a:r>
            <a:r>
              <a:rPr lang="zh-TW" altLang="en-US" dirty="0"/>
              <a:t>身分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選擇一般身分、退伍軍人、領有殘障手冊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H.</a:t>
            </a:r>
            <a:r>
              <a:rPr lang="zh-TW" altLang="en-US" dirty="0"/>
              <a:t>產生驗證碼以證明不是機器人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A5BD515-61B1-077E-AEA1-C6B865DAA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4885011"/>
            <a:ext cx="4860000" cy="1726404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D3E430D9-C81D-4EEC-D96F-6CE083CC31A3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16EF018-2ED0-54C9-34D9-A1698BFCF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49155"/>
            <a:ext cx="4860000" cy="411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55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9FE7-56DC-16A8-CE77-B781F807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1025083-6B11-189D-F8AC-6EA8E084145C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查看個人資料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043B2AB-DEB3-6837-55FC-9C7EE09AE665}"/>
              </a:ext>
            </a:extLst>
          </p:cNvPr>
          <p:cNvSpPr txBox="1"/>
          <p:nvPr/>
        </p:nvSpPr>
        <p:spPr>
          <a:xfrm>
            <a:off x="6096000" y="549155"/>
            <a:ext cx="43009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1.info.html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查看個人資料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抓取</a:t>
            </a:r>
            <a:r>
              <a:rPr lang="en-US" altLang="zh-TW" dirty="0" err="1"/>
              <a:t>info_form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2DAE284-0775-7284-8389-AB0BA6F80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9155"/>
            <a:ext cx="5400000" cy="2099601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57839BA-7142-CE1F-D4FE-39BAB0AF07F3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796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2855-D13E-32B5-017A-3A1E740B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FBBD462-2DA7-C856-5E50-B82F1A39215A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預約管理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68EBDE9-58AC-D17D-9CEB-1678AB0DD633}"/>
              </a:ext>
            </a:extLst>
          </p:cNvPr>
          <p:cNvSpPr txBox="1"/>
          <p:nvPr/>
        </p:nvSpPr>
        <p:spPr>
          <a:xfrm>
            <a:off x="6096000" y="549155"/>
            <a:ext cx="43669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register_form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利用</a:t>
            </a:r>
            <a:r>
              <a:rPr lang="en-US" altLang="zh-TW" dirty="0"/>
              <a:t>query</a:t>
            </a:r>
            <a:r>
              <a:rPr lang="zh-TW" altLang="en-US" dirty="0"/>
              <a:t>供使用者完成搜尋功能</a:t>
            </a:r>
            <a:endParaRPr lang="en-US" altLang="zh-TW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1F3312-439B-46E4-CAC0-EF19969EFECC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7EA75B2-301C-43F1-402A-7B4C92126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549155"/>
            <a:ext cx="5400000" cy="56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75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8A62-02A8-D135-87CF-1511703B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4CA80C3-32D6-ACC2-DBB9-B08AD3CC8178}"/>
              </a:ext>
            </a:extLst>
          </p:cNvPr>
          <p:cNvSpPr txBox="1"/>
          <p:nvPr/>
        </p:nvSpPr>
        <p:spPr>
          <a:xfrm>
            <a:off x="636105" y="-230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預約管理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90409A-DB3F-97DD-5043-E3924E6E3066}"/>
              </a:ext>
            </a:extLst>
          </p:cNvPr>
          <p:cNvSpPr txBox="1"/>
          <p:nvPr/>
        </p:nvSpPr>
        <p:spPr>
          <a:xfrm>
            <a:off x="6096000" y="549155"/>
            <a:ext cx="479650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1.register_manage.html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預約管理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 err="1"/>
              <a:t>B..query</a:t>
            </a:r>
            <a:r>
              <a:rPr lang="zh-TW" altLang="en-US" dirty="0"/>
              <a:t>欄位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用於提供管理者查詢資訊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若輸入為空則顯示所有資料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若查無資料則顯示</a:t>
            </a:r>
            <a:r>
              <a:rPr lang="en-US" altLang="zh-TW" dirty="0"/>
              <a:t>“</a:t>
            </a:r>
            <a:r>
              <a:rPr lang="zh-TW" altLang="en-US" dirty="0"/>
              <a:t>目前無預約紀錄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以表格方式條列出所有預約內容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管理者可以直接新增預約掛號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en-US" altLang="zh-TW" dirty="0"/>
              <a:t>	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抓取</a:t>
            </a:r>
            <a:r>
              <a:rPr lang="en-US" altLang="zh-TW" dirty="0" err="1"/>
              <a:t>register_form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21DADCF-CA75-12CA-7BFD-81E783A4F9A0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E125A5D-65D1-226E-F3BB-7472919E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551895"/>
            <a:ext cx="5400000" cy="575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94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5369-EC74-2CAB-7A3E-8459240B4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EDDB35D-AD5D-1940-1CDB-9F2BCF03B598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編輯掛號紀錄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FE04828-204B-9932-474F-D9DBBE0D36DA}"/>
              </a:ext>
            </a:extLst>
          </p:cNvPr>
          <p:cNvSpPr txBox="1"/>
          <p:nvPr/>
        </p:nvSpPr>
        <p:spPr>
          <a:xfrm>
            <a:off x="6096000" y="549155"/>
            <a:ext cx="472263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register_form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register_form</a:t>
            </a:r>
            <a:r>
              <a:rPr lang="zh-TW" altLang="en-US" dirty="0"/>
              <a:t>會預設填入預約掛號的資料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2.register_edit.html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編輯掛號紀錄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抓取</a:t>
            </a:r>
            <a:r>
              <a:rPr lang="en-US" altLang="zh-TW" dirty="0" err="1"/>
              <a:t>register_form</a:t>
            </a:r>
            <a:r>
              <a:rPr lang="zh-TW" altLang="en-US" dirty="0"/>
              <a:t>以顯示表格資料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E.</a:t>
            </a:r>
            <a:r>
              <a:rPr lang="zh-TW" altLang="en-US" dirty="0"/>
              <a:t>顯示原預約時間供管理者參考</a:t>
            </a:r>
            <a:endParaRPr lang="en-US" altLang="zh-TW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C61CE8-9DCC-C704-79B9-AC807FC4456E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EB69B6-6230-FF35-B9B3-5EB5B7C7F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4592097"/>
            <a:ext cx="4860000" cy="226011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0B2E52D-B854-DD1D-DE5F-188D4CCCD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13089"/>
            <a:ext cx="4860000" cy="404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19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B4FF-E048-CE3C-DEB8-CC71E5AD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2C82BEA-574E-86D5-FAC5-72DC0926D407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刪除掛號紀錄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1B001F7-A1ED-2929-03B8-4539F490622C}"/>
              </a:ext>
            </a:extLst>
          </p:cNvPr>
          <p:cNvSpPr txBox="1"/>
          <p:nvPr/>
        </p:nvSpPr>
        <p:spPr>
          <a:xfrm>
            <a:off x="6155897" y="663893"/>
            <a:ext cx="5751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若讀取到欲刪除的預約掛號紀錄則將整筆資料刪除</a:t>
            </a:r>
            <a:endParaRPr lang="en-US" altLang="zh-TW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EC05D-8FC3-2914-CD06-0AF88424EE76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514DC1-9AB0-DDDB-46C6-8B8BF33E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" y="663892"/>
            <a:ext cx="5400000" cy="32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99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484A-FA8A-350C-9CAE-9682BDDF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962DBAB-BECD-3D8C-7536-56A8B3239CDF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病患資料管理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FBD8AE-5BD8-7C55-F7D8-93096EB10941}"/>
              </a:ext>
            </a:extLst>
          </p:cNvPr>
          <p:cNvSpPr txBox="1"/>
          <p:nvPr/>
        </p:nvSpPr>
        <p:spPr>
          <a:xfrm>
            <a:off x="6096000" y="549155"/>
            <a:ext cx="45299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利用</a:t>
            </a:r>
            <a:r>
              <a:rPr lang="en-US" altLang="zh-TW" dirty="0"/>
              <a:t>query</a:t>
            </a:r>
            <a:r>
              <a:rPr lang="zh-TW" altLang="en-US" dirty="0"/>
              <a:t>供使用者完成搜尋功能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A73FD5-5620-D044-9F42-49E5F3164697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AED62E-CC8A-AD60-C75E-2C30980E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549155"/>
            <a:ext cx="5400000" cy="308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15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A9FA-0D42-BEFE-92A7-595CD450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BF856EE-B596-0566-29B2-421D3144F605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病患資料管理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88724B-16D9-2189-D9DB-780ADE02AB03}"/>
              </a:ext>
            </a:extLst>
          </p:cNvPr>
          <p:cNvSpPr txBox="1"/>
          <p:nvPr/>
        </p:nvSpPr>
        <p:spPr>
          <a:xfrm>
            <a:off x="6096000" y="549155"/>
            <a:ext cx="618150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1.patient_manage.html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病患資料管理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 err="1"/>
              <a:t>B..query</a:t>
            </a:r>
            <a:r>
              <a:rPr lang="zh-TW" altLang="en-US" dirty="0"/>
              <a:t>欄位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用於提供管理者查詢資訊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若輸入為空則顯示所有資料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若查無資料則顯示</a:t>
            </a:r>
            <a:r>
              <a:rPr lang="en-US" altLang="zh-TW" dirty="0"/>
              <a:t>“</a:t>
            </a:r>
            <a:r>
              <a:rPr lang="zh-TW" altLang="en-US" dirty="0"/>
              <a:t>沒有找到符合條件的病患資料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以表格方式條列出所有病患資料</a:t>
            </a:r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719DA83-8900-A52A-2503-E1D86D320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9155"/>
            <a:ext cx="5400000" cy="37155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64EA159-F2E6-CCD1-5D80-E928D136CA2B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808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3D40E-A14F-4833-80E8-714116A6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B0C8A7-E856-172F-995F-DDE610F50676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編輯病患資料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7590FFC-FD5E-33CC-F8BF-18615FA1576C}"/>
              </a:ext>
            </a:extLst>
          </p:cNvPr>
          <p:cNvSpPr txBox="1"/>
          <p:nvPr/>
        </p:nvSpPr>
        <p:spPr>
          <a:xfrm>
            <a:off x="6096000" y="549155"/>
            <a:ext cx="46832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patient_form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patient_form</a:t>
            </a:r>
            <a:r>
              <a:rPr lang="zh-TW" altLang="en-US" dirty="0"/>
              <a:t>會預設填入預約掛號的資料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7AF3545-F2FE-A2E1-DD18-8D6C16F6D3CA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BCB5145-7E76-B114-E373-9C7D6EE57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549155"/>
            <a:ext cx="5400000" cy="539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23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2990-01C6-6C34-6981-6CE54592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A4AB04F-1747-51EF-0F1A-2AE31F9CABF4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編輯病患資料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C0874E-1EE1-BBA5-34CA-1CF07382C856}"/>
              </a:ext>
            </a:extLst>
          </p:cNvPr>
          <p:cNvSpPr txBox="1"/>
          <p:nvPr/>
        </p:nvSpPr>
        <p:spPr>
          <a:xfrm>
            <a:off x="6096000" y="549155"/>
            <a:ext cx="530626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名字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住址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電話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管理者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G.</a:t>
            </a:r>
            <a:r>
              <a:rPr lang="zh-TW" altLang="en-US" dirty="0"/>
              <a:t>身分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選擇一般身分、退伍軍人、領有殘障手冊</a:t>
            </a:r>
            <a:endParaRPr lang="en-US" altLang="zh-TW" dirty="0"/>
          </a:p>
          <a:p>
            <a:r>
              <a:rPr lang="en-US" altLang="zh-TW" dirty="0"/>
              <a:t>2.register_edit.html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編輯病患資料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抓取</a:t>
            </a:r>
            <a:r>
              <a:rPr lang="en-US" altLang="zh-TW" dirty="0" err="1"/>
              <a:t>patient_form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7C1CDB2D-64F7-3F14-544F-B4E031810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9155"/>
            <a:ext cx="5400000" cy="138079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670BE42-5F01-EEDD-5F5F-29F50560BF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0"/>
          <a:stretch>
            <a:fillRect/>
          </a:stretch>
        </p:blipFill>
        <p:spPr>
          <a:xfrm>
            <a:off x="636105" y="2235027"/>
            <a:ext cx="5400000" cy="238794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4DAB275-030A-D493-C0AD-D774779BAFE0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4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4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381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88656-0021-9858-2A23-DCFBD2CC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4D745E3-055B-79FA-F8AB-EED8FDBC0C8C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刪除病患資料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F63A43D-8098-1790-2795-627DD00BAC55}"/>
              </a:ext>
            </a:extLst>
          </p:cNvPr>
          <p:cNvSpPr txBox="1"/>
          <p:nvPr/>
        </p:nvSpPr>
        <p:spPr>
          <a:xfrm>
            <a:off x="6155897" y="663893"/>
            <a:ext cx="5751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若讀取到欲刪除的預約掛號紀錄則將整筆資料刪除</a:t>
            </a:r>
            <a:endParaRPr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5AAD91-0611-781B-31D2-AA547019783C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5346C0F-C5A0-D409-3878-81AC00FCF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663893"/>
            <a:ext cx="5400000" cy="279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39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B8A3-2ECF-013A-22A4-18890D5B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DF00A29-6B0C-52B0-149C-1026F6ACCA05}"/>
              </a:ext>
            </a:extLst>
          </p:cNvPr>
          <p:cNvSpPr txBox="1"/>
          <p:nvPr/>
        </p:nvSpPr>
        <p:spPr>
          <a:xfrm>
            <a:off x="636105" y="-230"/>
            <a:ext cx="36471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醫師排班與治療項目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B9C7CE-92F4-421D-55A1-7A47A378C8FD}"/>
              </a:ext>
            </a:extLst>
          </p:cNvPr>
          <p:cNvSpPr txBox="1"/>
          <p:nvPr/>
        </p:nvSpPr>
        <p:spPr>
          <a:xfrm>
            <a:off x="6096000" y="549155"/>
            <a:ext cx="43669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dentist_form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醫師名字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治療項目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看診時間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485FB3-C9E8-E10C-0997-84D87B0F2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4788696"/>
            <a:ext cx="5400000" cy="167553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60DDAF3-7258-3F62-6AE8-6778861997B5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46E94F8-C260-ECE5-2EB8-CAFC77788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40731"/>
            <a:ext cx="5400000" cy="40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21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1A89-17B7-8BD0-E21B-1B0E4503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B1B6A69-ABFA-323A-E955-F711FA2BB17F}"/>
              </a:ext>
            </a:extLst>
          </p:cNvPr>
          <p:cNvSpPr txBox="1"/>
          <p:nvPr/>
        </p:nvSpPr>
        <p:spPr>
          <a:xfrm>
            <a:off x="636105" y="-230"/>
            <a:ext cx="36471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醫師排班與治療項目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9D1670-0840-4396-C9C1-E044F2464C46}"/>
              </a:ext>
            </a:extLst>
          </p:cNvPr>
          <p:cNvSpPr txBox="1"/>
          <p:nvPr/>
        </p:nvSpPr>
        <p:spPr>
          <a:xfrm>
            <a:off x="6096000" y="549155"/>
            <a:ext cx="443749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1.dentist_manage.html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醫師排班與治療項目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以表格方式條列出所有醫師內容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 管理者可以直接新增醫師項目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en-US" altLang="zh-TW" dirty="0"/>
              <a:t>	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抓取</a:t>
            </a:r>
            <a:r>
              <a:rPr lang="en-US" altLang="zh-TW" dirty="0" err="1"/>
              <a:t>dentist_form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E7C76F8-DD8D-48FC-69CA-5F9EBCAFE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45802"/>
            <a:ext cx="5400000" cy="397367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F2819F2-247D-9A78-E3D8-6E5B44A5277F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183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58E0-2BD0-9FD8-BCB3-A6B67FC0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2A6117E-F900-8179-95B4-CB2D033125C0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編輯醫師資料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64977FC-691A-46A3-F57E-698D9779CFEF}"/>
              </a:ext>
            </a:extLst>
          </p:cNvPr>
          <p:cNvSpPr txBox="1"/>
          <p:nvPr/>
        </p:nvSpPr>
        <p:spPr>
          <a:xfrm>
            <a:off x="6096000" y="549155"/>
            <a:ext cx="466191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dentist_form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dentist_form</a:t>
            </a:r>
            <a:r>
              <a:rPr lang="zh-TW" altLang="en-US" dirty="0"/>
              <a:t>會預設填入預約掛號的資料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2.dentist_edit.html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編輯醫師資料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抓取</a:t>
            </a:r>
            <a:r>
              <a:rPr lang="en-US" altLang="zh-TW" dirty="0" err="1"/>
              <a:t>dentist_form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D2C07DF-1482-8C22-398E-2F0FF8D44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4733943"/>
            <a:ext cx="5040000" cy="210511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B8CF5AE-334A-4E95-7363-7A78DCF09629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193D6E-B2F9-48DC-884F-5FA64B759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00168"/>
            <a:ext cx="5040000" cy="417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87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820A5-3B54-E491-325E-570DD500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717A40B-28A3-37EE-D434-13C583A4FDF8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刪除醫師資料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C075FB-38BB-FCCF-7E5A-81143AC2A7F2}"/>
              </a:ext>
            </a:extLst>
          </p:cNvPr>
          <p:cNvSpPr txBox="1"/>
          <p:nvPr/>
        </p:nvSpPr>
        <p:spPr>
          <a:xfrm>
            <a:off x="6155897" y="663893"/>
            <a:ext cx="5751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若讀取到欲刪除的預約掛號紀錄則將整筆資料刪除</a:t>
            </a:r>
            <a:endParaRPr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9F99F1-98D2-40E4-06B4-2B1824D6FC3A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74A6E2-89A9-EAFE-FB46-DC2F198F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663893"/>
            <a:ext cx="5400000" cy="272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35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0CB8-3997-A114-4372-534E3722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6B70441-873B-2873-C581-565DFFBF29B1}"/>
              </a:ext>
            </a:extLst>
          </p:cNvPr>
          <p:cNvSpPr txBox="1"/>
          <p:nvPr/>
        </p:nvSpPr>
        <p:spPr>
          <a:xfrm>
            <a:off x="636105" y="-76433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治療項目管理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4F9323-F1F9-D062-86B9-E321A69DC317}"/>
              </a:ext>
            </a:extLst>
          </p:cNvPr>
          <p:cNvSpPr txBox="1"/>
          <p:nvPr/>
        </p:nvSpPr>
        <p:spPr>
          <a:xfrm>
            <a:off x="6096000" y="549155"/>
            <a:ext cx="43669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service_form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2.forms.py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表格內需輸入的內容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治療項目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治療項目描述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治療價格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D8254B2-1C2B-EC1D-A8BB-D9479B215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5" y="5261381"/>
            <a:ext cx="4860000" cy="152792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93E702-67CE-3021-A959-64C5EA88472B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3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3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91E04D2-AC1B-A63F-F8DD-7EFADEA2C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377000"/>
            <a:ext cx="4860000" cy="48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41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41AA-906D-4E48-4938-9D1B5F4C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D9D585B-30F3-A86F-0BBE-9025F113B6C8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治療項目管理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AC78DD-7B39-8604-0451-515410485DF7}"/>
              </a:ext>
            </a:extLst>
          </p:cNvPr>
          <p:cNvSpPr txBox="1"/>
          <p:nvPr/>
        </p:nvSpPr>
        <p:spPr>
          <a:xfrm>
            <a:off x="6096000" y="549155"/>
            <a:ext cx="452239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1.service_manage.html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治療項目管理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以表格方式條列出所有治療項目內容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 管理者可以直接新增治療項目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(B)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en-US" altLang="zh-TW" dirty="0"/>
              <a:t>	a.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　</a:t>
            </a:r>
            <a:r>
              <a:rPr lang="en-US" altLang="zh-TW" dirty="0"/>
              <a:t>(C)</a:t>
            </a:r>
            <a:r>
              <a:rPr lang="zh-TW" altLang="en-US" dirty="0"/>
              <a:t>抓取</a:t>
            </a:r>
            <a:r>
              <a:rPr lang="en-US" altLang="zh-TW" dirty="0" err="1"/>
              <a:t>service_form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863CF03-68B6-6664-856C-6380223D27EC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1067625-8A6A-98F2-00EE-486F0BF77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549155"/>
            <a:ext cx="5400000" cy="42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95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1A6D-4061-D9B4-C94F-CE15E42B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8602377-55CC-BA2B-E9A8-31B9C58612F0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A52E30-809F-26F1-005F-A14F4C68D4DC}"/>
              </a:ext>
            </a:extLst>
          </p:cNvPr>
          <p:cNvSpPr txBox="1"/>
          <p:nvPr/>
        </p:nvSpPr>
        <p:spPr>
          <a:xfrm>
            <a:off x="636105" y="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編輯治療項目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171412A-3586-2F68-001C-1E712420288A}"/>
              </a:ext>
            </a:extLst>
          </p:cNvPr>
          <p:cNvSpPr txBox="1"/>
          <p:nvPr/>
        </p:nvSpPr>
        <p:spPr>
          <a:xfrm>
            <a:off x="6096000" y="549155"/>
            <a:ext cx="513037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判斷讀取到的方法是否為</a:t>
            </a:r>
            <a:r>
              <a:rPr lang="en-US" altLang="zh-TW" dirty="0"/>
              <a:t>POST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將管理者輸入資料填入</a:t>
            </a:r>
            <a:r>
              <a:rPr lang="en-US" altLang="zh-TW" dirty="0" err="1"/>
              <a:t>service_form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en-US" altLang="zh-TW" dirty="0" err="1"/>
              <a:t>service_form</a:t>
            </a:r>
            <a:r>
              <a:rPr lang="zh-TW" altLang="en-US" dirty="0"/>
              <a:t>會預設填入原有的治療項目資料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若輸入錯誤則顯示相對應錯誤訊息</a:t>
            </a:r>
            <a:endParaRPr lang="en-US" altLang="zh-TW" dirty="0"/>
          </a:p>
          <a:p>
            <a:r>
              <a:rPr lang="en-US" altLang="zh-TW" dirty="0"/>
              <a:t>2.service_edit.html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編輯治療項目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表格送出後仍保持原先介面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C.</a:t>
            </a:r>
            <a:r>
              <a:rPr lang="zh-TW" altLang="en-US" dirty="0"/>
              <a:t>表格內容以</a:t>
            </a:r>
            <a:r>
              <a:rPr lang="en-US" altLang="zh-TW" dirty="0"/>
              <a:t>POST</a:t>
            </a:r>
            <a:r>
              <a:rPr lang="zh-TW" altLang="en-US" dirty="0"/>
              <a:t>方式送出</a:t>
            </a:r>
            <a:endParaRPr lang="en-US" altLang="zh-TW" dirty="0"/>
          </a:p>
          <a:p>
            <a:r>
              <a:rPr lang="zh-TW" altLang="en-US" dirty="0"/>
              <a:t>　　　</a:t>
            </a:r>
            <a:r>
              <a:rPr lang="en-US" altLang="zh-TW" dirty="0"/>
              <a:t>(A)</a:t>
            </a:r>
            <a:r>
              <a:rPr lang="zh-TW" altLang="en-US" dirty="0"/>
              <a:t>需使用</a:t>
            </a:r>
            <a:r>
              <a:rPr lang="en-US" altLang="zh-TW" dirty="0"/>
              <a:t>{%</a:t>
            </a:r>
            <a:r>
              <a:rPr lang="en-US" altLang="zh-TW" dirty="0" err="1"/>
              <a:t>csrf_token</a:t>
            </a:r>
            <a:r>
              <a:rPr lang="en-US" altLang="zh-TW" dirty="0"/>
              <a:t>%}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D.</a:t>
            </a:r>
            <a:r>
              <a:rPr lang="zh-TW" altLang="en-US" dirty="0"/>
              <a:t>抓取</a:t>
            </a:r>
            <a:r>
              <a:rPr lang="en-US" altLang="zh-TW" dirty="0" err="1"/>
              <a:t>service_form</a:t>
            </a:r>
            <a:r>
              <a:rPr lang="zh-TW" altLang="en-US" dirty="0"/>
              <a:t>以顯示表格資料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BBF2F89-A1F6-2D19-F654-E8D88E11D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467" y="4480729"/>
            <a:ext cx="5400000" cy="235683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A4D5D03-007D-9E8B-F3EE-C5F110210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5" y="549155"/>
            <a:ext cx="5220000" cy="587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2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DE25-2C6A-8C85-F3CD-B5477BEB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E1DE675-D724-3303-E41D-EF146C99EF2B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刪除治療項目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FE0ECFC-E504-2E78-C419-D76FA32C973C}"/>
              </a:ext>
            </a:extLst>
          </p:cNvPr>
          <p:cNvSpPr txBox="1"/>
          <p:nvPr/>
        </p:nvSpPr>
        <p:spPr>
          <a:xfrm>
            <a:off x="6155897" y="663893"/>
            <a:ext cx="5751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若讀取到欲刪除的預約掛號紀錄則將整筆資料刪除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3A16B35-AC1F-CFDF-A804-4CBA54E3850B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5DE6CCF-8104-CB9B-AF72-9CC38734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5" y="663893"/>
            <a:ext cx="5048955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96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14C-864B-2AFA-0882-9D93963F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4C1C2CF-FBF4-D3B6-13C5-35CE8A532E96}"/>
              </a:ext>
            </a:extLst>
          </p:cNvPr>
          <p:cNvSpPr txBox="1"/>
          <p:nvPr/>
        </p:nvSpPr>
        <p:spPr>
          <a:xfrm>
            <a:off x="636105" y="-230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回饋訊息管理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016651-0568-D1B7-836B-FA6A9E624E19}"/>
              </a:ext>
            </a:extLst>
          </p:cNvPr>
          <p:cNvSpPr txBox="1"/>
          <p:nvPr/>
        </p:nvSpPr>
        <p:spPr>
          <a:xfrm>
            <a:off x="6155897" y="663893"/>
            <a:ext cx="45543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views.py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若未登入或非管理者無法進入該介面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讀取所有回饋表單的內容</a:t>
            </a:r>
            <a:endParaRPr lang="en-US" altLang="zh-TW" dirty="0"/>
          </a:p>
          <a:p>
            <a:r>
              <a:rPr lang="en-US" altLang="zh-TW" dirty="0"/>
              <a:t>2.contact_manage.html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(1)title-&gt;</a:t>
            </a:r>
            <a:r>
              <a:rPr lang="zh-TW" altLang="en-US" dirty="0"/>
              <a:t>回饋訊息管理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(2)content</a:t>
            </a:r>
          </a:p>
          <a:p>
            <a:r>
              <a:rPr lang="zh-TW" altLang="en-US" dirty="0"/>
              <a:t>　　</a:t>
            </a:r>
            <a:r>
              <a:rPr lang="en-US" altLang="zh-TW" dirty="0"/>
              <a:t>A.</a:t>
            </a:r>
            <a:r>
              <a:rPr lang="zh-TW" altLang="en-US" dirty="0"/>
              <a:t>若有錯誤訊息則顯示於介面最上方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B.</a:t>
            </a:r>
            <a:r>
              <a:rPr lang="zh-TW" altLang="en-US" dirty="0"/>
              <a:t>以表格方式顯示</a:t>
            </a:r>
            <a:r>
              <a:rPr lang="en-US" altLang="zh-TW" dirty="0"/>
              <a:t>Contact</a:t>
            </a:r>
            <a:r>
              <a:rPr lang="zh-TW" altLang="en-US" dirty="0"/>
              <a:t>中的所有物件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34622F-CC94-B1C2-D3A8-06EEE32161C5}"/>
              </a:ext>
            </a:extLst>
          </p:cNvPr>
          <p:cNvSpPr txBox="1"/>
          <p:nvPr/>
        </p:nvSpPr>
        <p:spPr>
          <a:xfrm>
            <a:off x="8733829" y="6211669"/>
            <a:ext cx="341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點擊圖片對應到相應的頁面</a:t>
            </a:r>
            <a:endParaRPr lang="en-US" altLang="zh-TW" sz="1800" b="1" dirty="0">
              <a:solidFill>
                <a:srgbClr val="FF0000"/>
              </a:solidFill>
              <a:hlinkClick r:id="rId2" action="ppaction://hlinksldjump"/>
            </a:endParaRPr>
          </a:p>
          <a:p>
            <a:r>
              <a:rPr lang="zh-TW" altLang="en-US" sz="1800" b="1" dirty="0">
                <a:solidFill>
                  <a:srgbClr val="FF0000"/>
                </a:solidFill>
                <a:hlinkClick r:id="rId2" action="ppaction://hlinksldjump"/>
              </a:rPr>
              <a:t>點擊此部分跳回程式碼架構首頁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B46D5BC-9F4D-9FE1-B84F-A801353C9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" y="2440888"/>
            <a:ext cx="4500000" cy="439830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F7FE45F-AAC6-D282-2FE2-75058DB3F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4" y="486032"/>
            <a:ext cx="4500000" cy="193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9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5051</Words>
  <Application>Microsoft Office PowerPoint</Application>
  <PresentationFormat>寬螢幕</PresentationFormat>
  <Paragraphs>637</Paragraphs>
  <Slides>42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佈景主題</vt:lpstr>
      <vt:lpstr>網際網路程式設計專題報告 牙科診所掛號系統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珮茵 傅</dc:creator>
  <cp:lastModifiedBy>珮茵 傅</cp:lastModifiedBy>
  <cp:revision>99</cp:revision>
  <dcterms:created xsi:type="dcterms:W3CDTF">2025-06-16T12:21:28Z</dcterms:created>
  <dcterms:modified xsi:type="dcterms:W3CDTF">2025-06-19T17:13:24Z</dcterms:modified>
</cp:coreProperties>
</file>